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2"/>
    </p:embeddedFont>
    <p:embeddedFont>
      <p:font typeface="Consolas Bold" charset="1" panose="020B0709020204030204"/>
      <p:regular r:id="rId25"/>
    </p:embeddedFont>
    <p:embeddedFont>
      <p:font typeface="Canva Sans" charset="1" panose="020B0503030501040103"/>
      <p:regular r:id="rId27"/>
    </p:embeddedFont>
    <p:embeddedFont>
      <p:font typeface="Consolas" charset="1" panose="020B06090202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0088"/>
            </a:xfrm>
            <a:custGeom>
              <a:avLst/>
              <a:gdLst/>
              <a:ahLst/>
              <a:cxnLst/>
              <a:rect r="r" b="b" t="t" l="l"/>
              <a:pathLst>
                <a:path h="18008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63195"/>
                  </a:lnTo>
                  <a:cubicBezTo>
                    <a:pt x="24417782" y="172593"/>
                    <a:pt x="24410163" y="180086"/>
                    <a:pt x="244008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4400890" y="146304"/>
                  </a:lnTo>
                  <a:lnTo>
                    <a:pt x="24400890" y="163195"/>
                  </a:lnTo>
                  <a:lnTo>
                    <a:pt x="24384000" y="16319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164575"/>
            <a:ext cx="18313403" cy="135131"/>
            <a:chOff x="0" y="0"/>
            <a:chExt cx="24417871" cy="180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80088"/>
            </a:xfrm>
            <a:custGeom>
              <a:avLst/>
              <a:gdLst/>
              <a:ahLst/>
              <a:cxnLst/>
              <a:rect r="r" b="b" t="t" l="l"/>
              <a:pathLst>
                <a:path h="18008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63195"/>
                  </a:lnTo>
                  <a:cubicBezTo>
                    <a:pt x="24417782" y="172593"/>
                    <a:pt x="24410163" y="180086"/>
                    <a:pt x="244008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4400890" y="146304"/>
                  </a:lnTo>
                  <a:lnTo>
                    <a:pt x="24400890" y="163195"/>
                  </a:lnTo>
                  <a:lnTo>
                    <a:pt x="24384000" y="16319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03303" y="718823"/>
            <a:ext cx="135131" cy="135131"/>
            <a:chOff x="0" y="0"/>
            <a:chExt cx="180175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98247" y="718823"/>
            <a:ext cx="135131" cy="135131"/>
            <a:chOff x="0" y="0"/>
            <a:chExt cx="180175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093191" y="718823"/>
            <a:ext cx="135131" cy="135131"/>
            <a:chOff x="0" y="0"/>
            <a:chExt cx="180175" cy="180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788135" y="718823"/>
            <a:ext cx="135131" cy="135131"/>
            <a:chOff x="0" y="0"/>
            <a:chExt cx="180175" cy="180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83079" y="718823"/>
            <a:ext cx="135131" cy="135131"/>
            <a:chOff x="0" y="0"/>
            <a:chExt cx="180175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178023" y="718823"/>
            <a:ext cx="135131" cy="135131"/>
            <a:chOff x="0" y="0"/>
            <a:chExt cx="180175" cy="1801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703303" y="1633223"/>
            <a:ext cx="135131" cy="135131"/>
            <a:chOff x="0" y="0"/>
            <a:chExt cx="180175" cy="180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398247" y="1633223"/>
            <a:ext cx="135131" cy="135131"/>
            <a:chOff x="0" y="0"/>
            <a:chExt cx="180175" cy="180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093191" y="1633223"/>
            <a:ext cx="135131" cy="135131"/>
            <a:chOff x="0" y="0"/>
            <a:chExt cx="180175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788135" y="1633223"/>
            <a:ext cx="135131" cy="135131"/>
            <a:chOff x="0" y="0"/>
            <a:chExt cx="180175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83079" y="1633223"/>
            <a:ext cx="135131" cy="135131"/>
            <a:chOff x="0" y="0"/>
            <a:chExt cx="180175" cy="180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178023" y="1633223"/>
            <a:ext cx="135131" cy="135131"/>
            <a:chOff x="0" y="0"/>
            <a:chExt cx="180175" cy="1801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03303" y="2547623"/>
            <a:ext cx="135131" cy="135131"/>
            <a:chOff x="0" y="0"/>
            <a:chExt cx="180175" cy="1801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398247" y="2547623"/>
            <a:ext cx="135131" cy="135131"/>
            <a:chOff x="0" y="0"/>
            <a:chExt cx="180175" cy="1801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093191" y="2547623"/>
            <a:ext cx="135131" cy="135131"/>
            <a:chOff x="0" y="0"/>
            <a:chExt cx="180175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788135" y="2547623"/>
            <a:ext cx="135131" cy="135131"/>
            <a:chOff x="0" y="0"/>
            <a:chExt cx="180175" cy="1801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483079" y="2547623"/>
            <a:ext cx="135131" cy="135131"/>
            <a:chOff x="0" y="0"/>
            <a:chExt cx="180175" cy="1801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7178023" y="2547623"/>
            <a:ext cx="135131" cy="135131"/>
            <a:chOff x="0" y="0"/>
            <a:chExt cx="180175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03303" y="3462023"/>
            <a:ext cx="135131" cy="135131"/>
            <a:chOff x="0" y="0"/>
            <a:chExt cx="180175" cy="1801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398247" y="3462023"/>
            <a:ext cx="135131" cy="135131"/>
            <a:chOff x="0" y="0"/>
            <a:chExt cx="180175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5093191" y="3462023"/>
            <a:ext cx="135131" cy="135131"/>
            <a:chOff x="0" y="0"/>
            <a:chExt cx="180175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788135" y="3462023"/>
            <a:ext cx="135131" cy="135131"/>
            <a:chOff x="0" y="0"/>
            <a:chExt cx="180175" cy="18017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83079" y="3462023"/>
            <a:ext cx="135131" cy="135131"/>
            <a:chOff x="0" y="0"/>
            <a:chExt cx="180175" cy="1801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7178023" y="3462023"/>
            <a:ext cx="135131" cy="135131"/>
            <a:chOff x="0" y="0"/>
            <a:chExt cx="180175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703303" y="4376423"/>
            <a:ext cx="135131" cy="135131"/>
            <a:chOff x="0" y="0"/>
            <a:chExt cx="180175" cy="1801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398247" y="4376423"/>
            <a:ext cx="135131" cy="135131"/>
            <a:chOff x="0" y="0"/>
            <a:chExt cx="180175" cy="1801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093191" y="4376423"/>
            <a:ext cx="135131" cy="135131"/>
            <a:chOff x="0" y="0"/>
            <a:chExt cx="180175" cy="1801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788135" y="4376423"/>
            <a:ext cx="135131" cy="135131"/>
            <a:chOff x="0" y="0"/>
            <a:chExt cx="180175" cy="1801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6483079" y="4376423"/>
            <a:ext cx="135131" cy="135131"/>
            <a:chOff x="0" y="0"/>
            <a:chExt cx="180175" cy="1801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7178023" y="4376423"/>
            <a:ext cx="135131" cy="135131"/>
            <a:chOff x="0" y="0"/>
            <a:chExt cx="180175" cy="18017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703303" y="5290823"/>
            <a:ext cx="135131" cy="135131"/>
            <a:chOff x="0" y="0"/>
            <a:chExt cx="180175" cy="18017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398247" y="5290823"/>
            <a:ext cx="135131" cy="135131"/>
            <a:chOff x="0" y="0"/>
            <a:chExt cx="180175" cy="18017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093191" y="5290823"/>
            <a:ext cx="135131" cy="135131"/>
            <a:chOff x="0" y="0"/>
            <a:chExt cx="180175" cy="18017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788135" y="5290823"/>
            <a:ext cx="135131" cy="135131"/>
            <a:chOff x="0" y="0"/>
            <a:chExt cx="180175" cy="18017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6483079" y="5290823"/>
            <a:ext cx="135131" cy="135131"/>
            <a:chOff x="0" y="0"/>
            <a:chExt cx="180175" cy="18017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7178023" y="5290823"/>
            <a:ext cx="135131" cy="135131"/>
            <a:chOff x="0" y="0"/>
            <a:chExt cx="180175" cy="18017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703303" y="6205223"/>
            <a:ext cx="135131" cy="135131"/>
            <a:chOff x="0" y="0"/>
            <a:chExt cx="180175" cy="18017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398247" y="6205223"/>
            <a:ext cx="135131" cy="135131"/>
            <a:chOff x="0" y="0"/>
            <a:chExt cx="180175" cy="18017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093191" y="6205223"/>
            <a:ext cx="135131" cy="135131"/>
            <a:chOff x="0" y="0"/>
            <a:chExt cx="180175" cy="18017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5788135" y="6205223"/>
            <a:ext cx="135131" cy="135131"/>
            <a:chOff x="0" y="0"/>
            <a:chExt cx="180175" cy="18017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6483079" y="6205223"/>
            <a:ext cx="135131" cy="135131"/>
            <a:chOff x="0" y="0"/>
            <a:chExt cx="180175" cy="18017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7178023" y="6205223"/>
            <a:ext cx="135131" cy="135131"/>
            <a:chOff x="0" y="0"/>
            <a:chExt cx="180175" cy="18017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3703303" y="7119623"/>
            <a:ext cx="135131" cy="135131"/>
            <a:chOff x="0" y="0"/>
            <a:chExt cx="180175" cy="18017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4398247" y="7119623"/>
            <a:ext cx="135131" cy="135131"/>
            <a:chOff x="0" y="0"/>
            <a:chExt cx="180175" cy="18017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5093191" y="7119623"/>
            <a:ext cx="135131" cy="135131"/>
            <a:chOff x="0" y="0"/>
            <a:chExt cx="180175" cy="18017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5788135" y="7119623"/>
            <a:ext cx="135131" cy="135131"/>
            <a:chOff x="0" y="0"/>
            <a:chExt cx="180175" cy="18017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6483079" y="7119623"/>
            <a:ext cx="135131" cy="135131"/>
            <a:chOff x="0" y="0"/>
            <a:chExt cx="180175" cy="18017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7178023" y="7119623"/>
            <a:ext cx="135131" cy="135131"/>
            <a:chOff x="0" y="0"/>
            <a:chExt cx="180175" cy="180175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731520" y="1280160"/>
            <a:ext cx="12435840" cy="2194560"/>
            <a:chOff x="0" y="0"/>
            <a:chExt cx="16581120" cy="29260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65811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16581120" cy="2954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WSN Analytics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731520" y="3200400"/>
            <a:ext cx="12435840" cy="1828800"/>
            <a:chOff x="0" y="0"/>
            <a:chExt cx="16581120" cy="24384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6581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16581120" cy="2466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CCCCC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Dashboard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731520" y="5303520"/>
            <a:ext cx="11887200" cy="1645920"/>
            <a:chOff x="0" y="0"/>
            <a:chExt cx="15849600" cy="21945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5849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66675"/>
              <a:ext cx="15849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Performance Analysis Tool for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Wireless Sensor Networks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718823" y="7119623"/>
            <a:ext cx="5511803" cy="98555"/>
            <a:chOff x="0" y="0"/>
            <a:chExt cx="7349071" cy="13140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731520" y="7498080"/>
            <a:ext cx="9144000" cy="548640"/>
            <a:chOff x="0" y="0"/>
            <a:chExt cx="12192000" cy="7315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2192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31520" y="8138160"/>
            <a:ext cx="11887200" cy="1828800"/>
            <a:chOff x="0" y="0"/>
            <a:chExt cx="15849600" cy="24384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5849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5849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Janula Swetha  |  SE23UARI051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Jinukala Vaishnavi  |  SE23UARI054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Pavani Reddy  |  SE23UMCS020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NJ Madhav  |  SE23UCSE122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Built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913383"/>
            <a:ext cx="16850363" cy="1397003"/>
            <a:chOff x="0" y="0"/>
            <a:chExt cx="22467151" cy="1862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45691"/>
                  </a:lnTo>
                  <a:cubicBezTo>
                    <a:pt x="22467063" y="1855089"/>
                    <a:pt x="22459443" y="1862582"/>
                    <a:pt x="224501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450171" y="1828800"/>
                  </a:lnTo>
                  <a:lnTo>
                    <a:pt x="22450171" y="1845691"/>
                  </a:lnTo>
                  <a:lnTo>
                    <a:pt x="22433280" y="1845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3017520"/>
            <a:ext cx="16276320" cy="1188720"/>
            <a:chOff x="0" y="0"/>
            <a:chExt cx="2170176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017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795" r="0" b="-2167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7017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full-stack Python application that collects, stores, analyzes, and visualizes Wireless Sensor Network (WSN) performance data — complete with interactive dashboards, SQL database, REST API, and automated PDF reports.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4650743"/>
            <a:ext cx="8255003" cy="1854203"/>
            <a:chOff x="0" y="0"/>
            <a:chExt cx="1100667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455291"/>
                  </a:lnTo>
                  <a:cubicBezTo>
                    <a:pt x="11006582" y="2464689"/>
                    <a:pt x="10998962" y="2472182"/>
                    <a:pt x="10989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989691" y="2438400"/>
                  </a:lnTo>
                  <a:lnTo>
                    <a:pt x="10989691" y="2455291"/>
                  </a:lnTo>
                  <a:lnTo>
                    <a:pt x="10972800" y="24552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4650743"/>
            <a:ext cx="135131" cy="1854203"/>
            <a:chOff x="0" y="0"/>
            <a:chExt cx="180175" cy="24722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2472182"/>
            </a:xfrm>
            <a:custGeom>
              <a:avLst/>
              <a:gdLst/>
              <a:ahLst/>
              <a:cxnLst/>
              <a:rect r="r" b="b" t="t" l="l"/>
              <a:pathLst>
                <a:path h="24721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455291"/>
                  </a:lnTo>
                  <a:cubicBezTo>
                    <a:pt x="180086" y="2464689"/>
                    <a:pt x="172466" y="2472182"/>
                    <a:pt x="16319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63195" y="2438400"/>
                  </a:lnTo>
                  <a:lnTo>
                    <a:pt x="163195" y="2455291"/>
                  </a:lnTo>
                  <a:lnTo>
                    <a:pt x="146304" y="24552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4846320"/>
            <a:ext cx="7680960" cy="640080"/>
            <a:chOff x="0" y="0"/>
            <a:chExt cx="102412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241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📊  Interactive Dashboard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5577840"/>
            <a:ext cx="7498080" cy="731520"/>
            <a:chOff x="0" y="0"/>
            <a:chExt cx="999744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Streamlit-powered real-time visualization with filters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05623" y="4650743"/>
            <a:ext cx="8255003" cy="1854203"/>
            <a:chOff x="0" y="0"/>
            <a:chExt cx="11006671" cy="24722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065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455291"/>
                  </a:lnTo>
                  <a:cubicBezTo>
                    <a:pt x="11006582" y="2464689"/>
                    <a:pt x="10998962" y="2472182"/>
                    <a:pt x="10989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989691" y="2438400"/>
                  </a:lnTo>
                  <a:lnTo>
                    <a:pt x="10989691" y="2455291"/>
                  </a:lnTo>
                  <a:lnTo>
                    <a:pt x="10972800" y="24552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5623" y="4650743"/>
            <a:ext cx="135131" cy="1854203"/>
            <a:chOff x="0" y="0"/>
            <a:chExt cx="180175" cy="24722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086" cy="2472182"/>
            </a:xfrm>
            <a:custGeom>
              <a:avLst/>
              <a:gdLst/>
              <a:ahLst/>
              <a:cxnLst/>
              <a:rect r="r" b="b" t="t" l="l"/>
              <a:pathLst>
                <a:path h="24721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455291"/>
                  </a:lnTo>
                  <a:cubicBezTo>
                    <a:pt x="180086" y="2464689"/>
                    <a:pt x="172466" y="2472182"/>
                    <a:pt x="16319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63195" y="2438400"/>
                  </a:lnTo>
                  <a:lnTo>
                    <a:pt x="163195" y="2455291"/>
                  </a:lnTo>
                  <a:lnTo>
                    <a:pt x="146304" y="24552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84080" y="4846320"/>
            <a:ext cx="7680960" cy="640080"/>
            <a:chOff x="0" y="0"/>
            <a:chExt cx="1024128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241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🗄️  SQL Database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84080" y="5577840"/>
            <a:ext cx="7498080" cy="731520"/>
            <a:chOff x="0" y="0"/>
            <a:chExt cx="999744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+ SQLAlchemy for persistent sensor data storage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8823" y="6936743"/>
            <a:ext cx="8255003" cy="1854203"/>
            <a:chOff x="0" y="0"/>
            <a:chExt cx="11006671" cy="24722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455291"/>
                  </a:lnTo>
                  <a:cubicBezTo>
                    <a:pt x="11006582" y="2464689"/>
                    <a:pt x="10998962" y="2472182"/>
                    <a:pt x="10989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989691" y="2438400"/>
                  </a:lnTo>
                  <a:lnTo>
                    <a:pt x="10989691" y="2455291"/>
                  </a:lnTo>
                  <a:lnTo>
                    <a:pt x="10972800" y="24552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8823" y="6936743"/>
            <a:ext cx="135131" cy="1854203"/>
            <a:chOff x="0" y="0"/>
            <a:chExt cx="180175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46304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086" cy="2472182"/>
            </a:xfrm>
            <a:custGeom>
              <a:avLst/>
              <a:gdLst/>
              <a:ahLst/>
              <a:cxnLst/>
              <a:rect r="r" b="b" t="t" l="l"/>
              <a:pathLst>
                <a:path h="24721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455291"/>
                  </a:lnTo>
                  <a:cubicBezTo>
                    <a:pt x="180086" y="2464689"/>
                    <a:pt x="172466" y="2472182"/>
                    <a:pt x="16319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63195" y="2438400"/>
                  </a:lnTo>
                  <a:lnTo>
                    <a:pt x="163195" y="2455291"/>
                  </a:lnTo>
                  <a:lnTo>
                    <a:pt x="146304" y="24552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7132320"/>
            <a:ext cx="7680960" cy="640080"/>
            <a:chOff x="0" y="0"/>
            <a:chExt cx="1024128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0241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📡  REST API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7863840"/>
            <a:ext cx="7498080" cy="731520"/>
            <a:chOff x="0" y="0"/>
            <a:chExt cx="999744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Flask-based API for external data access &amp; integration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5623" y="6936743"/>
            <a:ext cx="8255003" cy="1854203"/>
            <a:chOff x="0" y="0"/>
            <a:chExt cx="11006671" cy="24722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065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455291"/>
                  </a:lnTo>
                  <a:cubicBezTo>
                    <a:pt x="11006582" y="2464689"/>
                    <a:pt x="10998962" y="2472182"/>
                    <a:pt x="10989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989691" y="2438400"/>
                  </a:lnTo>
                  <a:lnTo>
                    <a:pt x="10989691" y="2455291"/>
                  </a:lnTo>
                  <a:lnTo>
                    <a:pt x="10972800" y="24552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05623" y="6936743"/>
            <a:ext cx="135131" cy="1854203"/>
            <a:chOff x="0" y="0"/>
            <a:chExt cx="180175" cy="24722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2472182"/>
            </a:xfrm>
            <a:custGeom>
              <a:avLst/>
              <a:gdLst/>
              <a:ahLst/>
              <a:cxnLst/>
              <a:rect r="r" b="b" t="t" l="l"/>
              <a:pathLst>
                <a:path h="24721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455291"/>
                  </a:lnTo>
                  <a:cubicBezTo>
                    <a:pt x="180086" y="2464689"/>
                    <a:pt x="172466" y="2472182"/>
                    <a:pt x="16319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63195" y="2438400"/>
                  </a:lnTo>
                  <a:lnTo>
                    <a:pt x="163195" y="2455291"/>
                  </a:lnTo>
                  <a:lnTo>
                    <a:pt x="146304" y="24552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84080" y="7132320"/>
            <a:ext cx="7680960" cy="640080"/>
            <a:chOff x="0" y="0"/>
            <a:chExt cx="102412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0241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📄  Auto PDF Reports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84080" y="7863840"/>
            <a:ext cx="7498080" cy="731520"/>
            <a:chOff x="0" y="0"/>
            <a:chExt cx="9997440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ReportLab-generated analysis reports on demand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31520" y="9326880"/>
            <a:ext cx="16824960" cy="640080"/>
            <a:chOff x="0" y="0"/>
            <a:chExt cx="2243328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2433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STACK:  Python  •  Pandas / NumPy  •  Plotly  •  Streamlit  •  SQLite  •  Flask  •  ReportLab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TEAM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Meet the Developers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3004823"/>
            <a:ext cx="8255003" cy="3225803"/>
            <a:chOff x="0" y="0"/>
            <a:chExt cx="11006671" cy="4301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284091"/>
                  </a:lnTo>
                  <a:cubicBezTo>
                    <a:pt x="11006582" y="4293489"/>
                    <a:pt x="10998962" y="4300982"/>
                    <a:pt x="109896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989691" y="4267200"/>
                  </a:lnTo>
                  <a:lnTo>
                    <a:pt x="10989691" y="4284091"/>
                  </a:lnTo>
                  <a:lnTo>
                    <a:pt x="10972800" y="4284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3004823"/>
            <a:ext cx="8255003" cy="116843"/>
            <a:chOff x="0" y="0"/>
            <a:chExt cx="11006671" cy="155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3200400"/>
            <a:ext cx="7680960" cy="694944"/>
            <a:chOff x="0" y="0"/>
            <a:chExt cx="1024128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📊  Janula Swetha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840480"/>
            <a:ext cx="7315200" cy="457200"/>
            <a:chOff x="0" y="0"/>
            <a:chExt cx="97536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SE23UARI051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4297680"/>
            <a:ext cx="7315200" cy="457200"/>
            <a:chOff x="0" y="0"/>
            <a:chExt cx="97536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199">
                  <a:solidFill>
                    <a:srgbClr val="B0B0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&amp; VISUALIZATION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4846320"/>
            <a:ext cx="7498080" cy="1188720"/>
            <a:chOff x="0" y="0"/>
            <a:chExt cx="999744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Streamlit dashboard design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Plotly interactive charts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Custom CSS theming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Node health status UI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05623" y="3004823"/>
            <a:ext cx="8255003" cy="3225803"/>
            <a:chOff x="0" y="0"/>
            <a:chExt cx="11006671" cy="43010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09728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065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284091"/>
                  </a:lnTo>
                  <a:cubicBezTo>
                    <a:pt x="11006582" y="4293489"/>
                    <a:pt x="10998962" y="4300982"/>
                    <a:pt x="109896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989691" y="4267200"/>
                  </a:lnTo>
                  <a:lnTo>
                    <a:pt x="10989691" y="4284091"/>
                  </a:lnTo>
                  <a:lnTo>
                    <a:pt x="10972800" y="4284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5623" y="3004823"/>
            <a:ext cx="8255003" cy="116843"/>
            <a:chOff x="0" y="0"/>
            <a:chExt cx="11006671" cy="155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84080" y="3200400"/>
            <a:ext cx="7680960" cy="694944"/>
            <a:chOff x="0" y="0"/>
            <a:chExt cx="1024128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📈  Jinukala Vaishnavi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84080" y="3840480"/>
            <a:ext cx="7315200" cy="457200"/>
            <a:chOff x="0" y="0"/>
            <a:chExt cx="97536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SE23UARI054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84080" y="4297680"/>
            <a:ext cx="7315200" cy="457200"/>
            <a:chOff x="0" y="0"/>
            <a:chExt cx="975360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199">
                  <a:solidFill>
                    <a:srgbClr val="B0B0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ANALYSIS &amp; STATISTICS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784080" y="4846320"/>
            <a:ext cx="7498080" cy="1188720"/>
            <a:chOff x="0" y="0"/>
            <a:chExt cx="999744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Statistical analysis module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PDR / latency thresholds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Correlation heatmap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Advanced analytics section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27383" y="6570983"/>
            <a:ext cx="8255003" cy="3225803"/>
            <a:chOff x="0" y="0"/>
            <a:chExt cx="11006671" cy="43010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9728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284091"/>
                  </a:lnTo>
                  <a:cubicBezTo>
                    <a:pt x="11006582" y="4293489"/>
                    <a:pt x="10998962" y="4300982"/>
                    <a:pt x="109896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989691" y="4267200"/>
                  </a:lnTo>
                  <a:lnTo>
                    <a:pt x="10989691" y="4284091"/>
                  </a:lnTo>
                  <a:lnTo>
                    <a:pt x="10972800" y="4284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27383" y="6570983"/>
            <a:ext cx="8255003" cy="116843"/>
            <a:chOff x="0" y="0"/>
            <a:chExt cx="11006671" cy="1557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5840" y="6766560"/>
            <a:ext cx="7680960" cy="694944"/>
            <a:chOff x="0" y="0"/>
            <a:chExt cx="1024128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🗄️  Pavani Reddy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5840" y="7406640"/>
            <a:ext cx="7315200" cy="457200"/>
            <a:chOff x="0" y="0"/>
            <a:chExt cx="97536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SE23UMCS020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5840" y="7863840"/>
            <a:ext cx="7315200" cy="457200"/>
            <a:chOff x="0" y="0"/>
            <a:chExt cx="9753600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199">
                  <a:solidFill>
                    <a:srgbClr val="B0B0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&amp; BACKEND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5840" y="8412480"/>
            <a:ext cx="7498080" cy="1188720"/>
            <a:chOff x="0" y="0"/>
            <a:chExt cx="999744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SQLite schema design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SQLAlchemy ORM layer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Data persistence logic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CSV ↔ DB conversion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05623" y="6570983"/>
            <a:ext cx="8255003" cy="3225803"/>
            <a:chOff x="0" y="0"/>
            <a:chExt cx="11006671" cy="43010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9728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065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284091"/>
                  </a:lnTo>
                  <a:cubicBezTo>
                    <a:pt x="11006582" y="4293489"/>
                    <a:pt x="10998962" y="4300982"/>
                    <a:pt x="109896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989691" y="4267200"/>
                  </a:lnTo>
                  <a:lnTo>
                    <a:pt x="10989691" y="4284091"/>
                  </a:lnTo>
                  <a:lnTo>
                    <a:pt x="10972800" y="4284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405623" y="6570983"/>
            <a:ext cx="8255003" cy="116843"/>
            <a:chOff x="0" y="0"/>
            <a:chExt cx="11006671" cy="1557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784080" y="6766560"/>
            <a:ext cx="7680960" cy="694944"/>
            <a:chOff x="0" y="0"/>
            <a:chExt cx="1024128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📡  NJ Madhav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84080" y="7406640"/>
            <a:ext cx="7315200" cy="457200"/>
            <a:chOff x="0" y="0"/>
            <a:chExt cx="975360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SE23UCSE122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84080" y="7863840"/>
            <a:ext cx="7315200" cy="457200"/>
            <a:chOff x="0" y="0"/>
            <a:chExt cx="975360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199">
                  <a:solidFill>
                    <a:srgbClr val="B0B0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&amp; REPORT GENERATION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4080" y="8412480"/>
            <a:ext cx="7498080" cy="1188720"/>
            <a:chOff x="0" y="0"/>
            <a:chExt cx="9997440" cy="1584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Flask REST API endpoints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PDF report automation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ReportLab integration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System integration &amp; testing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3096263"/>
            <a:ext cx="3225803" cy="2768603"/>
            <a:chOff x="0" y="0"/>
            <a:chExt cx="4301071" cy="3691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26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009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674491"/>
                  </a:lnTo>
                  <a:cubicBezTo>
                    <a:pt x="4300982" y="3683889"/>
                    <a:pt x="4293362" y="3691382"/>
                    <a:pt x="42840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284091" y="3657600"/>
                  </a:lnTo>
                  <a:lnTo>
                    <a:pt x="4284091" y="3674491"/>
                  </a:lnTo>
                  <a:lnTo>
                    <a:pt x="4267200" y="367449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3096263"/>
            <a:ext cx="3225803" cy="116843"/>
            <a:chOff x="0" y="0"/>
            <a:chExt cx="4301071" cy="155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267200" cy="121920"/>
            </a:xfrm>
            <a:custGeom>
              <a:avLst/>
              <a:gdLst/>
              <a:ahLst/>
              <a:cxnLst/>
              <a:rect r="r" b="b" t="t" l="l"/>
              <a:pathLst>
                <a:path h="1219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00982" cy="155704"/>
            </a:xfrm>
            <a:custGeom>
              <a:avLst/>
              <a:gdLst/>
              <a:ahLst/>
              <a:cxnLst/>
              <a:rect r="r" b="b" t="t" l="l"/>
              <a:pathLst>
                <a:path h="155704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38811"/>
                  </a:lnTo>
                  <a:cubicBezTo>
                    <a:pt x="4300982" y="148209"/>
                    <a:pt x="4293362" y="155702"/>
                    <a:pt x="4284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284091" y="121920"/>
                  </a:lnTo>
                  <a:lnTo>
                    <a:pt x="4284091" y="138811"/>
                  </a:lnTo>
                  <a:lnTo>
                    <a:pt x="4267200" y="13881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3291840"/>
            <a:ext cx="2834640" cy="1188720"/>
            <a:chOff x="0" y="0"/>
            <a:chExt cx="377952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77952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Sensor Data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(CSV Input)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4944" y="4535424"/>
            <a:ext cx="2926080" cy="1188720"/>
            <a:chOff x="0" y="0"/>
            <a:chExt cx="390144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9014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nodes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pdr, latency,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energy, lifetime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29990" y="4461510"/>
            <a:ext cx="1043940" cy="38100"/>
            <a:chOff x="0" y="0"/>
            <a:chExt cx="1391920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0"/>
              <a:ext cx="1341120" cy="50800"/>
            </a:xfrm>
            <a:custGeom>
              <a:avLst/>
              <a:gdLst/>
              <a:ahLst/>
              <a:cxnLst/>
              <a:rect r="r" b="b" t="t" l="l"/>
              <a:pathLst>
                <a:path h="50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572000" y="4206240"/>
            <a:ext cx="365760" cy="548640"/>
            <a:chOff x="0" y="0"/>
            <a:chExt cx="48768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8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93543" y="3096263"/>
            <a:ext cx="3225803" cy="2768603"/>
            <a:chOff x="0" y="0"/>
            <a:chExt cx="4301071" cy="36914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26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009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674491"/>
                  </a:lnTo>
                  <a:cubicBezTo>
                    <a:pt x="4300982" y="3683889"/>
                    <a:pt x="4293362" y="3691382"/>
                    <a:pt x="42840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284091" y="3657600"/>
                  </a:lnTo>
                  <a:lnTo>
                    <a:pt x="4284091" y="3674491"/>
                  </a:lnTo>
                  <a:lnTo>
                    <a:pt x="4267200" y="367449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193543" y="3096263"/>
            <a:ext cx="3225803" cy="116843"/>
            <a:chOff x="0" y="0"/>
            <a:chExt cx="4301071" cy="1557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267200" cy="121920"/>
            </a:xfrm>
            <a:custGeom>
              <a:avLst/>
              <a:gdLst/>
              <a:ahLst/>
              <a:cxnLst/>
              <a:rect r="r" b="b" t="t" l="l"/>
              <a:pathLst>
                <a:path h="1219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00982" cy="155704"/>
            </a:xfrm>
            <a:custGeom>
              <a:avLst/>
              <a:gdLst/>
              <a:ahLst/>
              <a:cxnLst/>
              <a:rect r="r" b="b" t="t" l="l"/>
              <a:pathLst>
                <a:path h="155704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38811"/>
                  </a:lnTo>
                  <a:cubicBezTo>
                    <a:pt x="4300982" y="148209"/>
                    <a:pt x="4293362" y="155702"/>
                    <a:pt x="4284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284091" y="121920"/>
                  </a:lnTo>
                  <a:lnTo>
                    <a:pt x="4284091" y="138811"/>
                  </a:lnTo>
                  <a:lnTo>
                    <a:pt x="4267200" y="13881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389120" y="3291840"/>
            <a:ext cx="2834640" cy="1188720"/>
            <a:chOff x="0" y="0"/>
            <a:chExt cx="377952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77952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(SQLite)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352544" y="4535424"/>
            <a:ext cx="2926080" cy="1188720"/>
            <a:chOff x="0" y="0"/>
            <a:chExt cx="390144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014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 ORM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Persistent storage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87590" y="4461510"/>
            <a:ext cx="1043940" cy="38100"/>
            <a:chOff x="0" y="0"/>
            <a:chExt cx="1391920" cy="50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5400" y="0"/>
              <a:ext cx="1341120" cy="50800"/>
            </a:xfrm>
            <a:custGeom>
              <a:avLst/>
              <a:gdLst/>
              <a:ahLst/>
              <a:cxnLst/>
              <a:rect r="r" b="b" t="t" l="l"/>
              <a:pathLst>
                <a:path h="50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0" y="4206240"/>
            <a:ext cx="365760" cy="548640"/>
            <a:chOff x="0" y="0"/>
            <a:chExt cx="4876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51143" y="3096263"/>
            <a:ext cx="3225803" cy="2768603"/>
            <a:chOff x="0" y="0"/>
            <a:chExt cx="4301071" cy="36914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426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009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674491"/>
                  </a:lnTo>
                  <a:cubicBezTo>
                    <a:pt x="4300982" y="3683889"/>
                    <a:pt x="4293362" y="3691382"/>
                    <a:pt x="42840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284091" y="3657600"/>
                  </a:lnTo>
                  <a:lnTo>
                    <a:pt x="4284091" y="3674491"/>
                  </a:lnTo>
                  <a:lnTo>
                    <a:pt x="4267200" y="367449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851143" y="3096263"/>
            <a:ext cx="3225803" cy="116843"/>
            <a:chOff x="0" y="0"/>
            <a:chExt cx="4301071" cy="1557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4267200" cy="121920"/>
            </a:xfrm>
            <a:custGeom>
              <a:avLst/>
              <a:gdLst/>
              <a:ahLst/>
              <a:cxnLst/>
              <a:rect r="r" b="b" t="t" l="l"/>
              <a:pathLst>
                <a:path h="1219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00982" cy="155704"/>
            </a:xfrm>
            <a:custGeom>
              <a:avLst/>
              <a:gdLst/>
              <a:ahLst/>
              <a:cxnLst/>
              <a:rect r="r" b="b" t="t" l="l"/>
              <a:pathLst>
                <a:path h="155704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38811"/>
                  </a:lnTo>
                  <a:cubicBezTo>
                    <a:pt x="4300982" y="148209"/>
                    <a:pt x="4293362" y="155702"/>
                    <a:pt x="4284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284091" y="121920"/>
                  </a:lnTo>
                  <a:lnTo>
                    <a:pt x="4284091" y="138811"/>
                  </a:lnTo>
                  <a:lnTo>
                    <a:pt x="4267200" y="13881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046720" y="3291840"/>
            <a:ext cx="2834640" cy="1188720"/>
            <a:chOff x="0" y="0"/>
            <a:chExt cx="3779520" cy="1584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77952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Analysis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Engine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010144" y="4535424"/>
            <a:ext cx="2926080" cy="1188720"/>
            <a:chOff x="0" y="0"/>
            <a:chExt cx="3901440" cy="1584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9014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Pandas/NumPy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Stats &amp; Thresholds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045190" y="4461510"/>
            <a:ext cx="1043940" cy="38100"/>
            <a:chOff x="0" y="0"/>
            <a:chExt cx="1391920" cy="50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5400" y="0"/>
              <a:ext cx="1341120" cy="50800"/>
            </a:xfrm>
            <a:custGeom>
              <a:avLst/>
              <a:gdLst/>
              <a:ahLst/>
              <a:cxnLst/>
              <a:rect r="r" b="b" t="t" l="l"/>
              <a:pathLst>
                <a:path h="50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0" y="4206240"/>
            <a:ext cx="365760" cy="548640"/>
            <a:chOff x="0" y="0"/>
            <a:chExt cx="4876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8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508743" y="3096263"/>
            <a:ext cx="3225803" cy="2768603"/>
            <a:chOff x="0" y="0"/>
            <a:chExt cx="4301071" cy="36914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26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009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674491"/>
                  </a:lnTo>
                  <a:cubicBezTo>
                    <a:pt x="4300982" y="3683889"/>
                    <a:pt x="4293362" y="3691382"/>
                    <a:pt x="42840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284091" y="3657600"/>
                  </a:lnTo>
                  <a:lnTo>
                    <a:pt x="4284091" y="3674491"/>
                  </a:lnTo>
                  <a:lnTo>
                    <a:pt x="4267200" y="367449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08743" y="3096263"/>
            <a:ext cx="3225803" cy="116843"/>
            <a:chOff x="0" y="0"/>
            <a:chExt cx="4301071" cy="1557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4267200" cy="121920"/>
            </a:xfrm>
            <a:custGeom>
              <a:avLst/>
              <a:gdLst/>
              <a:ahLst/>
              <a:cxnLst/>
              <a:rect r="r" b="b" t="t" l="l"/>
              <a:pathLst>
                <a:path h="1219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300982" cy="155704"/>
            </a:xfrm>
            <a:custGeom>
              <a:avLst/>
              <a:gdLst/>
              <a:ahLst/>
              <a:cxnLst/>
              <a:rect r="r" b="b" t="t" l="l"/>
              <a:pathLst>
                <a:path h="155704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38811"/>
                  </a:lnTo>
                  <a:cubicBezTo>
                    <a:pt x="4300982" y="148209"/>
                    <a:pt x="4293362" y="155702"/>
                    <a:pt x="4284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284091" y="121920"/>
                  </a:lnTo>
                  <a:lnTo>
                    <a:pt x="4284091" y="138811"/>
                  </a:lnTo>
                  <a:lnTo>
                    <a:pt x="4267200" y="13881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704320" y="3291840"/>
            <a:ext cx="2834640" cy="1188720"/>
            <a:chOff x="0" y="0"/>
            <a:chExt cx="377952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77952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Dashboard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(Streamlit)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667744" y="4535424"/>
            <a:ext cx="2926080" cy="1188720"/>
            <a:chOff x="0" y="0"/>
            <a:chExt cx="3901440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9014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Plotly charts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UI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702790" y="4461510"/>
            <a:ext cx="1043940" cy="38100"/>
            <a:chOff x="0" y="0"/>
            <a:chExt cx="1391920" cy="50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0"/>
              <a:ext cx="1341120" cy="50800"/>
            </a:xfrm>
            <a:custGeom>
              <a:avLst/>
              <a:gdLst/>
              <a:ahLst/>
              <a:cxnLst/>
              <a:rect r="r" b="b" t="t" l="l"/>
              <a:pathLst>
                <a:path h="50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544800" y="4206240"/>
            <a:ext cx="365760" cy="548640"/>
            <a:chOff x="0" y="0"/>
            <a:chExt cx="48768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8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166343" y="3096263"/>
            <a:ext cx="3225803" cy="2768603"/>
            <a:chOff x="0" y="0"/>
            <a:chExt cx="4301071" cy="369147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426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009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674491"/>
                  </a:lnTo>
                  <a:cubicBezTo>
                    <a:pt x="4300982" y="3683889"/>
                    <a:pt x="4293362" y="3691382"/>
                    <a:pt x="42840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284091" y="3657600"/>
                  </a:lnTo>
                  <a:lnTo>
                    <a:pt x="4284091" y="3674491"/>
                  </a:lnTo>
                  <a:lnTo>
                    <a:pt x="4267200" y="367449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166343" y="3096263"/>
            <a:ext cx="3225803" cy="116843"/>
            <a:chOff x="0" y="0"/>
            <a:chExt cx="4301071" cy="15579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4267200" cy="121920"/>
            </a:xfrm>
            <a:custGeom>
              <a:avLst/>
              <a:gdLst/>
              <a:ahLst/>
              <a:cxnLst/>
              <a:rect r="r" b="b" t="t" l="l"/>
              <a:pathLst>
                <a:path h="1219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300982" cy="155704"/>
            </a:xfrm>
            <a:custGeom>
              <a:avLst/>
              <a:gdLst/>
              <a:ahLst/>
              <a:cxnLst/>
              <a:rect r="r" b="b" t="t" l="l"/>
              <a:pathLst>
                <a:path h="155704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38811"/>
                  </a:lnTo>
                  <a:cubicBezTo>
                    <a:pt x="4300982" y="148209"/>
                    <a:pt x="4293362" y="155702"/>
                    <a:pt x="4284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284091" y="121920"/>
                  </a:lnTo>
                  <a:lnTo>
                    <a:pt x="4284091" y="138811"/>
                  </a:lnTo>
                  <a:lnTo>
                    <a:pt x="4267200" y="13881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5361920" y="3291840"/>
            <a:ext cx="2834640" cy="1188720"/>
            <a:chOff x="0" y="0"/>
            <a:chExt cx="3779520" cy="1584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377952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REST API &amp;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PDF Report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325344" y="4535424"/>
            <a:ext cx="2926080" cy="1188720"/>
            <a:chOff x="0" y="0"/>
            <a:chExt cx="3901440" cy="15849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9014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 endpoints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ReportLab PDF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31520" y="6492240"/>
            <a:ext cx="16459200" cy="640080"/>
            <a:chOff x="0" y="0"/>
            <a:chExt cx="2194560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21945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Structure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27383" y="7393943"/>
            <a:ext cx="8255003" cy="610619"/>
            <a:chOff x="0" y="0"/>
            <a:chExt cx="11006671" cy="81415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006582" cy="814072"/>
            </a:xfrm>
            <a:custGeom>
              <a:avLst/>
              <a:gdLst/>
              <a:ahLst/>
              <a:cxnLst/>
              <a:rect r="r" b="b" t="t" l="l"/>
              <a:pathLst>
                <a:path h="81407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97179"/>
                  </a:lnTo>
                  <a:cubicBezTo>
                    <a:pt x="11006582" y="806577"/>
                    <a:pt x="10998962" y="814070"/>
                    <a:pt x="109896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989691" y="780288"/>
                  </a:lnTo>
                  <a:lnTo>
                    <a:pt x="10989691" y="797179"/>
                  </a:lnTo>
                  <a:lnTo>
                    <a:pt x="10972800" y="7971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14400" y="7479792"/>
            <a:ext cx="3108960" cy="438912"/>
            <a:chOff x="0" y="0"/>
            <a:chExt cx="4145280" cy="58521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145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dashboard_app.py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114800" y="7479792"/>
            <a:ext cx="4480560" cy="438912"/>
            <a:chOff x="0" y="0"/>
            <a:chExt cx="5974080" cy="585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97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5974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dashboard with interactive controls &amp; charts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27383" y="8088887"/>
            <a:ext cx="8255003" cy="610619"/>
            <a:chOff x="0" y="0"/>
            <a:chExt cx="11006671" cy="81415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006582" cy="814072"/>
            </a:xfrm>
            <a:custGeom>
              <a:avLst/>
              <a:gdLst/>
              <a:ahLst/>
              <a:cxnLst/>
              <a:rect r="r" b="b" t="t" l="l"/>
              <a:pathLst>
                <a:path h="81407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97179"/>
                  </a:lnTo>
                  <a:cubicBezTo>
                    <a:pt x="11006582" y="806577"/>
                    <a:pt x="10998962" y="814070"/>
                    <a:pt x="109896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989691" y="780288"/>
                  </a:lnTo>
                  <a:lnTo>
                    <a:pt x="10989691" y="797179"/>
                  </a:lnTo>
                  <a:lnTo>
                    <a:pt x="10972800" y="7971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14400" y="8174736"/>
            <a:ext cx="3108960" cy="438912"/>
            <a:chOff x="0" y="0"/>
            <a:chExt cx="4145280" cy="58521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145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analysis/analysis.py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4114800" y="8174736"/>
            <a:ext cx="4480560" cy="438912"/>
            <a:chOff x="0" y="0"/>
            <a:chExt cx="5974080" cy="58521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97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5974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 computations: avg, std dev, variance, thresholds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27383" y="8783831"/>
            <a:ext cx="8255003" cy="610619"/>
            <a:chOff x="0" y="0"/>
            <a:chExt cx="11006671" cy="81415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006582" cy="814072"/>
            </a:xfrm>
            <a:custGeom>
              <a:avLst/>
              <a:gdLst/>
              <a:ahLst/>
              <a:cxnLst/>
              <a:rect r="r" b="b" t="t" l="l"/>
              <a:pathLst>
                <a:path h="81407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97179"/>
                  </a:lnTo>
                  <a:cubicBezTo>
                    <a:pt x="11006582" y="806577"/>
                    <a:pt x="10998962" y="814070"/>
                    <a:pt x="109896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989691" y="780288"/>
                  </a:lnTo>
                  <a:lnTo>
                    <a:pt x="10989691" y="797179"/>
                  </a:lnTo>
                  <a:lnTo>
                    <a:pt x="10972800" y="7971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14400" y="8869680"/>
            <a:ext cx="3108960" cy="438912"/>
            <a:chOff x="0" y="0"/>
            <a:chExt cx="4145280" cy="58521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145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visualization/plots.py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4114800" y="8869680"/>
            <a:ext cx="4480560" cy="438912"/>
            <a:chOff x="0" y="0"/>
            <a:chExt cx="5974080" cy="585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97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974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Plotly chart generators (histogram, scatter, radar, heatmap)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405623" y="7393943"/>
            <a:ext cx="8255003" cy="610619"/>
            <a:chOff x="0" y="0"/>
            <a:chExt cx="11006671" cy="81415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006582" cy="814072"/>
            </a:xfrm>
            <a:custGeom>
              <a:avLst/>
              <a:gdLst/>
              <a:ahLst/>
              <a:cxnLst/>
              <a:rect r="r" b="b" t="t" l="l"/>
              <a:pathLst>
                <a:path h="81407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97179"/>
                  </a:lnTo>
                  <a:cubicBezTo>
                    <a:pt x="11006582" y="806577"/>
                    <a:pt x="10998962" y="814070"/>
                    <a:pt x="109896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989691" y="780288"/>
                  </a:lnTo>
                  <a:lnTo>
                    <a:pt x="10989691" y="797179"/>
                  </a:lnTo>
                  <a:lnTo>
                    <a:pt x="10972800" y="7971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692640" y="7479792"/>
            <a:ext cx="3108960" cy="438912"/>
            <a:chOff x="0" y="0"/>
            <a:chExt cx="4145280" cy="5852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145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database/db.py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893040" y="7479792"/>
            <a:ext cx="4480560" cy="438912"/>
            <a:chOff x="0" y="0"/>
            <a:chExt cx="5974080" cy="58521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97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5974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ORM — save/query sensor data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405623" y="8088887"/>
            <a:ext cx="8255003" cy="610619"/>
            <a:chOff x="0" y="0"/>
            <a:chExt cx="11006671" cy="814159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1006582" cy="814072"/>
            </a:xfrm>
            <a:custGeom>
              <a:avLst/>
              <a:gdLst/>
              <a:ahLst/>
              <a:cxnLst/>
              <a:rect r="r" b="b" t="t" l="l"/>
              <a:pathLst>
                <a:path h="81407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97179"/>
                  </a:lnTo>
                  <a:cubicBezTo>
                    <a:pt x="11006582" y="806577"/>
                    <a:pt x="10998962" y="814070"/>
                    <a:pt x="109896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989691" y="780288"/>
                  </a:lnTo>
                  <a:lnTo>
                    <a:pt x="10989691" y="797179"/>
                  </a:lnTo>
                  <a:lnTo>
                    <a:pt x="10972800" y="7971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692640" y="8174736"/>
            <a:ext cx="3108960" cy="438912"/>
            <a:chOff x="0" y="0"/>
            <a:chExt cx="4145280" cy="58521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4145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reports/report.py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893040" y="8174736"/>
            <a:ext cx="4480560" cy="438912"/>
            <a:chOff x="0" y="0"/>
            <a:chExt cx="5974080" cy="58521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97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5974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PDF generation using ReportLab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405623" y="8783831"/>
            <a:ext cx="8255003" cy="610619"/>
            <a:chOff x="0" y="0"/>
            <a:chExt cx="11006671" cy="81415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006582" cy="814072"/>
            </a:xfrm>
            <a:custGeom>
              <a:avLst/>
              <a:gdLst/>
              <a:ahLst/>
              <a:cxnLst/>
              <a:rect r="r" b="b" t="t" l="l"/>
              <a:pathLst>
                <a:path h="81407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97179"/>
                  </a:lnTo>
                  <a:cubicBezTo>
                    <a:pt x="11006582" y="806577"/>
                    <a:pt x="10998962" y="814070"/>
                    <a:pt x="109896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989691" y="780288"/>
                  </a:lnTo>
                  <a:lnTo>
                    <a:pt x="10989691" y="797179"/>
                  </a:lnTo>
                  <a:lnTo>
                    <a:pt x="10972800" y="7971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692640" y="8869680"/>
            <a:ext cx="3108960" cy="438912"/>
            <a:chOff x="0" y="0"/>
            <a:chExt cx="4145280" cy="58521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4145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api/api.py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2893040" y="8869680"/>
            <a:ext cx="4480560" cy="438912"/>
            <a:chOff x="0" y="0"/>
            <a:chExt cx="5974080" cy="585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97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974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 REST API for external data access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261623"/>
            <a:ext cx="4048763" cy="665483"/>
            <a:chOff x="0" y="0"/>
            <a:chExt cx="5398351" cy="8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8262" cy="887224"/>
            </a:xfrm>
            <a:custGeom>
              <a:avLst/>
              <a:gdLst/>
              <a:ahLst/>
              <a:cxnLst/>
              <a:rect r="r" b="b" t="t" l="l"/>
              <a:pathLst>
                <a:path h="88722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70331"/>
                  </a:lnTo>
                  <a:cubicBezTo>
                    <a:pt x="5398262" y="879729"/>
                    <a:pt x="5390642" y="887222"/>
                    <a:pt x="538137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5381371" y="853440"/>
                  </a:lnTo>
                  <a:lnTo>
                    <a:pt x="5381371" y="870331"/>
                  </a:lnTo>
                  <a:lnTo>
                    <a:pt x="5364480" y="870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0" y="329184"/>
            <a:ext cx="4023360" cy="512064"/>
            <a:chOff x="0" y="0"/>
            <a:chExt cx="536448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3644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Janula Swetha  |  SE23UARI051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6304"/>
            <a:ext cx="13682103" cy="684105"/>
            <a:chOff x="0" y="0"/>
            <a:chExt cx="170688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0606" y="786384"/>
            <a:ext cx="16459200" cy="1371600"/>
            <a:chOff x="0" y="0"/>
            <a:chExt cx="219456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Performance Metrics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0606" y="2063115"/>
            <a:ext cx="3134363" cy="2860043"/>
            <a:chOff x="0" y="0"/>
            <a:chExt cx="4179151" cy="3813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145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06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3796411"/>
                  </a:lnTo>
                  <a:cubicBezTo>
                    <a:pt x="4179062" y="3805809"/>
                    <a:pt x="4171442" y="3813302"/>
                    <a:pt x="416217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162171" y="3779520"/>
                  </a:lnTo>
                  <a:lnTo>
                    <a:pt x="4162171" y="3796411"/>
                  </a:lnTo>
                  <a:lnTo>
                    <a:pt x="4145280" y="37964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10606" y="4751451"/>
            <a:ext cx="3134363" cy="171707"/>
            <a:chOff x="0" y="0"/>
            <a:chExt cx="4179151" cy="2289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145280" cy="195072"/>
            </a:xfrm>
            <a:custGeom>
              <a:avLst/>
              <a:gdLst/>
              <a:ahLst/>
              <a:cxnLst/>
              <a:rect r="r" b="b" t="t" l="l"/>
              <a:pathLst>
                <a:path h="19507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79062" cy="228856"/>
            </a:xfrm>
            <a:custGeom>
              <a:avLst/>
              <a:gdLst/>
              <a:ahLst/>
              <a:cxnLst/>
              <a:rect r="r" b="b" t="t" l="l"/>
              <a:pathLst>
                <a:path h="228856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11963"/>
                  </a:lnTo>
                  <a:cubicBezTo>
                    <a:pt x="4179062" y="221361"/>
                    <a:pt x="4171442" y="228854"/>
                    <a:pt x="41621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62171" y="195072"/>
                  </a:lnTo>
                  <a:lnTo>
                    <a:pt x="4162171" y="211963"/>
                  </a:lnTo>
                  <a:lnTo>
                    <a:pt x="4145280" y="21196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06183" y="2167252"/>
            <a:ext cx="2743200" cy="548640"/>
            <a:chOff x="0" y="0"/>
            <a:chExt cx="36576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PDR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4743" y="2715892"/>
            <a:ext cx="2926080" cy="1188720"/>
            <a:chOff x="0" y="0"/>
            <a:chExt cx="390144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9014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0.806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4743" y="4306948"/>
            <a:ext cx="2926080" cy="585216"/>
            <a:chOff x="0" y="0"/>
            <a:chExt cx="390144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9014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Packet Delivery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885326" y="2063115"/>
            <a:ext cx="3134363" cy="2860043"/>
            <a:chOff x="0" y="0"/>
            <a:chExt cx="4179151" cy="3813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145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7906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3796411"/>
                  </a:lnTo>
                  <a:cubicBezTo>
                    <a:pt x="4179062" y="3805809"/>
                    <a:pt x="4171442" y="3813302"/>
                    <a:pt x="416217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162171" y="3779520"/>
                  </a:lnTo>
                  <a:lnTo>
                    <a:pt x="4162171" y="3796411"/>
                  </a:lnTo>
                  <a:lnTo>
                    <a:pt x="4145280" y="37964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885326" y="4751451"/>
            <a:ext cx="3134363" cy="171707"/>
            <a:chOff x="0" y="0"/>
            <a:chExt cx="4179151" cy="228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145280" cy="195072"/>
            </a:xfrm>
            <a:custGeom>
              <a:avLst/>
              <a:gdLst/>
              <a:ahLst/>
              <a:cxnLst/>
              <a:rect r="r" b="b" t="t" l="l"/>
              <a:pathLst>
                <a:path h="19507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79062" cy="228856"/>
            </a:xfrm>
            <a:custGeom>
              <a:avLst/>
              <a:gdLst/>
              <a:ahLst/>
              <a:cxnLst/>
              <a:rect r="r" b="b" t="t" l="l"/>
              <a:pathLst>
                <a:path h="228856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11963"/>
                  </a:lnTo>
                  <a:cubicBezTo>
                    <a:pt x="4179062" y="221361"/>
                    <a:pt x="4171442" y="228854"/>
                    <a:pt x="41621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62171" y="195072"/>
                  </a:lnTo>
                  <a:lnTo>
                    <a:pt x="4162171" y="211963"/>
                  </a:lnTo>
                  <a:lnTo>
                    <a:pt x="4145280" y="21196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080903" y="2167252"/>
            <a:ext cx="2743200" cy="548640"/>
            <a:chOff x="0" y="0"/>
            <a:chExt cx="36576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Latency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989463" y="2715892"/>
            <a:ext cx="2926080" cy="1188720"/>
            <a:chOff x="0" y="0"/>
            <a:chExt cx="390144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9014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113.8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989463" y="3868036"/>
            <a:ext cx="2926080" cy="457200"/>
            <a:chOff x="0" y="0"/>
            <a:chExt cx="390144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901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989463" y="4306948"/>
            <a:ext cx="2926080" cy="585216"/>
            <a:chOff x="0" y="0"/>
            <a:chExt cx="390144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9014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delay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across nodes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60046" y="2063115"/>
            <a:ext cx="3134363" cy="2860043"/>
            <a:chOff x="0" y="0"/>
            <a:chExt cx="4179151" cy="38133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145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7906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3796411"/>
                  </a:lnTo>
                  <a:cubicBezTo>
                    <a:pt x="4179062" y="3805809"/>
                    <a:pt x="4171442" y="3813302"/>
                    <a:pt x="416217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162171" y="3779520"/>
                  </a:lnTo>
                  <a:lnTo>
                    <a:pt x="4162171" y="3796411"/>
                  </a:lnTo>
                  <a:lnTo>
                    <a:pt x="4145280" y="37964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360046" y="4751451"/>
            <a:ext cx="3134363" cy="171707"/>
            <a:chOff x="0" y="0"/>
            <a:chExt cx="4179151" cy="22894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145280" cy="195072"/>
            </a:xfrm>
            <a:custGeom>
              <a:avLst/>
              <a:gdLst/>
              <a:ahLst/>
              <a:cxnLst/>
              <a:rect r="r" b="b" t="t" l="l"/>
              <a:pathLst>
                <a:path h="19507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79062" cy="228856"/>
            </a:xfrm>
            <a:custGeom>
              <a:avLst/>
              <a:gdLst/>
              <a:ahLst/>
              <a:cxnLst/>
              <a:rect r="r" b="b" t="t" l="l"/>
              <a:pathLst>
                <a:path h="228856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11963"/>
                  </a:lnTo>
                  <a:cubicBezTo>
                    <a:pt x="4179062" y="221361"/>
                    <a:pt x="4171442" y="228854"/>
                    <a:pt x="41621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62171" y="195072"/>
                  </a:lnTo>
                  <a:lnTo>
                    <a:pt x="4162171" y="211963"/>
                  </a:lnTo>
                  <a:lnTo>
                    <a:pt x="4145280" y="21196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555623" y="2167252"/>
            <a:ext cx="2743200" cy="548640"/>
            <a:chOff x="0" y="0"/>
            <a:chExt cx="3657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Energy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464183" y="2715892"/>
            <a:ext cx="2926080" cy="1188720"/>
            <a:chOff x="0" y="0"/>
            <a:chExt cx="390144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9014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2.68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464183" y="3868036"/>
            <a:ext cx="2926080" cy="457200"/>
            <a:chOff x="0" y="0"/>
            <a:chExt cx="390144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901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64183" y="4306948"/>
            <a:ext cx="2926080" cy="585216"/>
            <a:chOff x="0" y="0"/>
            <a:chExt cx="3901440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9014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Energy consumed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node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834766" y="2063115"/>
            <a:ext cx="3134363" cy="2860043"/>
            <a:chOff x="0" y="0"/>
            <a:chExt cx="4179151" cy="38133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145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7906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3796411"/>
                  </a:lnTo>
                  <a:cubicBezTo>
                    <a:pt x="4179062" y="3805809"/>
                    <a:pt x="4171442" y="3813302"/>
                    <a:pt x="416217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162171" y="3779520"/>
                  </a:lnTo>
                  <a:lnTo>
                    <a:pt x="4162171" y="3796411"/>
                  </a:lnTo>
                  <a:lnTo>
                    <a:pt x="4145280" y="37964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834766" y="4751451"/>
            <a:ext cx="3134363" cy="171707"/>
            <a:chOff x="0" y="0"/>
            <a:chExt cx="4179151" cy="22894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145280" cy="195072"/>
            </a:xfrm>
            <a:custGeom>
              <a:avLst/>
              <a:gdLst/>
              <a:ahLst/>
              <a:cxnLst/>
              <a:rect r="r" b="b" t="t" l="l"/>
              <a:pathLst>
                <a:path h="19507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79062" cy="228856"/>
            </a:xfrm>
            <a:custGeom>
              <a:avLst/>
              <a:gdLst/>
              <a:ahLst/>
              <a:cxnLst/>
              <a:rect r="r" b="b" t="t" l="l"/>
              <a:pathLst>
                <a:path h="228856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11963"/>
                  </a:lnTo>
                  <a:cubicBezTo>
                    <a:pt x="4179062" y="221361"/>
                    <a:pt x="4171442" y="228854"/>
                    <a:pt x="41621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62171" y="195072"/>
                  </a:lnTo>
                  <a:lnTo>
                    <a:pt x="4162171" y="211963"/>
                  </a:lnTo>
                  <a:lnTo>
                    <a:pt x="4145280" y="21196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030343" y="2167252"/>
            <a:ext cx="2743200" cy="548640"/>
            <a:chOff x="0" y="0"/>
            <a:chExt cx="36576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Lifetime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938903" y="2715892"/>
            <a:ext cx="2926080" cy="1188720"/>
            <a:chOff x="0" y="0"/>
            <a:chExt cx="3901440" cy="1584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39014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565.6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938903" y="3868036"/>
            <a:ext cx="2926080" cy="457200"/>
            <a:chOff x="0" y="0"/>
            <a:chExt cx="390144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3901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938903" y="4306948"/>
            <a:ext cx="2926080" cy="585216"/>
            <a:chOff x="0" y="0"/>
            <a:chExt cx="390144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39014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Estimated node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operational time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309486" y="2063115"/>
            <a:ext cx="3134363" cy="2860043"/>
            <a:chOff x="0" y="0"/>
            <a:chExt cx="4179151" cy="38133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145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7906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3796411"/>
                  </a:lnTo>
                  <a:cubicBezTo>
                    <a:pt x="4179062" y="3805809"/>
                    <a:pt x="4171442" y="3813302"/>
                    <a:pt x="416217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162171" y="3779520"/>
                  </a:lnTo>
                  <a:lnTo>
                    <a:pt x="4162171" y="3796411"/>
                  </a:lnTo>
                  <a:lnTo>
                    <a:pt x="4145280" y="37964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309486" y="4751451"/>
            <a:ext cx="3134363" cy="171707"/>
            <a:chOff x="0" y="0"/>
            <a:chExt cx="4179151" cy="22894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145280" cy="195072"/>
            </a:xfrm>
            <a:custGeom>
              <a:avLst/>
              <a:gdLst/>
              <a:ahLst/>
              <a:cxnLst/>
              <a:rect r="r" b="b" t="t" l="l"/>
              <a:pathLst>
                <a:path h="19507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79062" cy="228856"/>
            </a:xfrm>
            <a:custGeom>
              <a:avLst/>
              <a:gdLst/>
              <a:ahLst/>
              <a:cxnLst/>
              <a:rect r="r" b="b" t="t" l="l"/>
              <a:pathLst>
                <a:path h="228856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11963"/>
                  </a:lnTo>
                  <a:cubicBezTo>
                    <a:pt x="4179062" y="221361"/>
                    <a:pt x="4171442" y="228854"/>
                    <a:pt x="41621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62171" y="195072"/>
                  </a:lnTo>
                  <a:lnTo>
                    <a:pt x="4162171" y="211963"/>
                  </a:lnTo>
                  <a:lnTo>
                    <a:pt x="4145280" y="21196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505063" y="2167252"/>
            <a:ext cx="2743200" cy="548640"/>
            <a:chOff x="0" y="0"/>
            <a:chExt cx="36576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Score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413623" y="2715892"/>
            <a:ext cx="2926080" cy="1188720"/>
            <a:chOff x="0" y="0"/>
            <a:chExt cx="3901440" cy="15849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01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9014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65.62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413623" y="3868036"/>
            <a:ext cx="2926080" cy="457200"/>
            <a:chOff x="0" y="0"/>
            <a:chExt cx="390144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3901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/100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413623" y="4306948"/>
            <a:ext cx="2926080" cy="585216"/>
            <a:chOff x="0" y="0"/>
            <a:chExt cx="3901440" cy="78028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39014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network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index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97900" y="5770883"/>
            <a:ext cx="7315200" cy="731520"/>
            <a:chOff x="0" y="0"/>
            <a:chExt cx="9753600" cy="975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975360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⚠  Active Alerts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385203" y="6672586"/>
            <a:ext cx="8255003" cy="720347"/>
            <a:chOff x="0" y="0"/>
            <a:chExt cx="11006671" cy="96046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D0A0A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006582" cy="960376"/>
            </a:xfrm>
            <a:custGeom>
              <a:avLst/>
              <a:gdLst/>
              <a:ahLst/>
              <a:cxnLst/>
              <a:rect r="r" b="b" t="t" l="l"/>
              <a:pathLst>
                <a:path h="96037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43483"/>
                  </a:lnTo>
                  <a:cubicBezTo>
                    <a:pt x="11006582" y="952881"/>
                    <a:pt x="10998962" y="960374"/>
                    <a:pt x="10989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989691" y="926592"/>
                  </a:lnTo>
                  <a:lnTo>
                    <a:pt x="10989691" y="943483"/>
                  </a:lnTo>
                  <a:lnTo>
                    <a:pt x="10972800" y="9434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63660" y="6758435"/>
            <a:ext cx="7680960" cy="548640"/>
            <a:chOff x="0" y="0"/>
            <a:chExt cx="10241280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E0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 nodes have LOW PDR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85203" y="7586986"/>
            <a:ext cx="8255003" cy="720347"/>
            <a:chOff x="0" y="0"/>
            <a:chExt cx="11006671" cy="96046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1E0A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006582" cy="960376"/>
            </a:xfrm>
            <a:custGeom>
              <a:avLst/>
              <a:gdLst/>
              <a:ahLst/>
              <a:cxnLst/>
              <a:rect r="r" b="b" t="t" l="l"/>
              <a:pathLst>
                <a:path h="96037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43483"/>
                  </a:lnTo>
                  <a:cubicBezTo>
                    <a:pt x="11006582" y="952881"/>
                    <a:pt x="10998962" y="960374"/>
                    <a:pt x="10989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989691" y="926592"/>
                  </a:lnTo>
                  <a:lnTo>
                    <a:pt x="10989691" y="943483"/>
                  </a:lnTo>
                  <a:lnTo>
                    <a:pt x="10972800" y="9434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763660" y="7672835"/>
            <a:ext cx="7680960" cy="548640"/>
            <a:chOff x="0" y="0"/>
            <a:chExt cx="1024128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E0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nodes have HIGH LATENCY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385203" y="8501386"/>
            <a:ext cx="8255003" cy="720347"/>
            <a:chOff x="0" y="0"/>
            <a:chExt cx="11006671" cy="96046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1E0A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006582" cy="960376"/>
            </a:xfrm>
            <a:custGeom>
              <a:avLst/>
              <a:gdLst/>
              <a:ahLst/>
              <a:cxnLst/>
              <a:rect r="r" b="b" t="t" l="l"/>
              <a:pathLst>
                <a:path h="96037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43483"/>
                  </a:lnTo>
                  <a:cubicBezTo>
                    <a:pt x="11006582" y="952881"/>
                    <a:pt x="10998962" y="960374"/>
                    <a:pt x="10989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989691" y="926592"/>
                  </a:lnTo>
                  <a:lnTo>
                    <a:pt x="10989691" y="943483"/>
                  </a:lnTo>
                  <a:lnTo>
                    <a:pt x="10972800" y="9434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763660" y="8587235"/>
            <a:ext cx="7680960" cy="548640"/>
            <a:chOff x="0" y="0"/>
            <a:chExt cx="1024128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E0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nodes have HIGH ENERGY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927228" y="5459735"/>
            <a:ext cx="8641954" cy="4254503"/>
            <a:chOff x="0" y="0"/>
            <a:chExt cx="11522605" cy="567267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8083" y="19512"/>
              <a:ext cx="11486343" cy="5633544"/>
            </a:xfrm>
            <a:custGeom>
              <a:avLst/>
              <a:gdLst/>
              <a:ahLst/>
              <a:cxnLst/>
              <a:rect r="r" b="b" t="t" l="l"/>
              <a:pathLst>
                <a:path h="5633544" w="11486343">
                  <a:moveTo>
                    <a:pt x="0" y="0"/>
                  </a:moveTo>
                  <a:lnTo>
                    <a:pt x="11486343" y="0"/>
                  </a:lnTo>
                  <a:lnTo>
                    <a:pt x="11486343" y="5633544"/>
                  </a:lnTo>
                  <a:lnTo>
                    <a:pt x="0" y="563354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522509" cy="5672568"/>
            </a:xfrm>
            <a:custGeom>
              <a:avLst/>
              <a:gdLst/>
              <a:ahLst/>
              <a:cxnLst/>
              <a:rect r="r" b="b" t="t" l="l"/>
              <a:pathLst>
                <a:path h="5672568" w="11522509">
                  <a:moveTo>
                    <a:pt x="18083" y="0"/>
                  </a:moveTo>
                  <a:lnTo>
                    <a:pt x="11504426" y="0"/>
                  </a:lnTo>
                  <a:cubicBezTo>
                    <a:pt x="11514488" y="0"/>
                    <a:pt x="11522509" y="8802"/>
                    <a:pt x="11522509" y="19512"/>
                  </a:cubicBezTo>
                  <a:lnTo>
                    <a:pt x="11522509" y="5653056"/>
                  </a:lnTo>
                  <a:cubicBezTo>
                    <a:pt x="11522509" y="5663912"/>
                    <a:pt x="11514351" y="5672568"/>
                    <a:pt x="11504426" y="5672568"/>
                  </a:cubicBezTo>
                  <a:lnTo>
                    <a:pt x="18083" y="5672568"/>
                  </a:lnTo>
                  <a:cubicBezTo>
                    <a:pt x="8022" y="5672568"/>
                    <a:pt x="0" y="5663766"/>
                    <a:pt x="0" y="5653056"/>
                  </a:cubicBezTo>
                  <a:lnTo>
                    <a:pt x="0" y="19512"/>
                  </a:lnTo>
                  <a:cubicBezTo>
                    <a:pt x="0" y="8802"/>
                    <a:pt x="8158" y="0"/>
                    <a:pt x="18083" y="0"/>
                  </a:cubicBezTo>
                  <a:moveTo>
                    <a:pt x="18083" y="39171"/>
                  </a:moveTo>
                  <a:lnTo>
                    <a:pt x="18083" y="19512"/>
                  </a:lnTo>
                  <a:lnTo>
                    <a:pt x="36303" y="19512"/>
                  </a:lnTo>
                  <a:lnTo>
                    <a:pt x="36303" y="5653056"/>
                  </a:lnTo>
                  <a:lnTo>
                    <a:pt x="18083" y="5653056"/>
                  </a:lnTo>
                  <a:lnTo>
                    <a:pt x="18083" y="5633544"/>
                  </a:lnTo>
                  <a:lnTo>
                    <a:pt x="11504426" y="5633544"/>
                  </a:lnTo>
                  <a:lnTo>
                    <a:pt x="11504426" y="5653056"/>
                  </a:lnTo>
                  <a:lnTo>
                    <a:pt x="11486343" y="5653056"/>
                  </a:lnTo>
                  <a:lnTo>
                    <a:pt x="11486343" y="19512"/>
                  </a:lnTo>
                  <a:lnTo>
                    <a:pt x="11504426" y="19512"/>
                  </a:lnTo>
                  <a:lnTo>
                    <a:pt x="11504426" y="39171"/>
                  </a:lnTo>
                  <a:lnTo>
                    <a:pt x="18083" y="39171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674709" y="5588003"/>
            <a:ext cx="3316682" cy="548640"/>
            <a:chOff x="0" y="0"/>
            <a:chExt cx="4422243" cy="7315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422243" cy="731520"/>
            </a:xfrm>
            <a:custGeom>
              <a:avLst/>
              <a:gdLst/>
              <a:ahLst/>
              <a:cxnLst/>
              <a:rect r="r" b="b" t="t" l="l"/>
              <a:pathLst>
                <a:path h="731520" w="4422243">
                  <a:moveTo>
                    <a:pt x="0" y="0"/>
                  </a:moveTo>
                  <a:lnTo>
                    <a:pt x="4422243" y="0"/>
                  </a:lnTo>
                  <a:lnTo>
                    <a:pt x="44222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-120557" b="-20980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4422243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Latency </a:t>
              </a: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Distribution</a:t>
              </a:r>
            </a:p>
          </p:txBody>
        </p:sp>
      </p:grpSp>
      <p:sp>
        <p:nvSpPr>
          <p:cNvPr name="Freeform 131" id="131"/>
          <p:cNvSpPr/>
          <p:nvPr/>
        </p:nvSpPr>
        <p:spPr>
          <a:xfrm flipH="false" flipV="false" rot="0">
            <a:off x="13637266" y="5770883"/>
            <a:ext cx="3806583" cy="3762913"/>
          </a:xfrm>
          <a:custGeom>
            <a:avLst/>
            <a:gdLst/>
            <a:ahLst/>
            <a:cxnLst/>
            <a:rect r="r" b="b" t="t" l="l"/>
            <a:pathLst>
              <a:path h="3762913" w="3806583">
                <a:moveTo>
                  <a:pt x="0" y="0"/>
                </a:moveTo>
                <a:lnTo>
                  <a:pt x="3806583" y="0"/>
                </a:lnTo>
                <a:lnTo>
                  <a:pt x="3806583" y="3762913"/>
                </a:lnTo>
                <a:lnTo>
                  <a:pt x="0" y="3762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2" id="132"/>
          <p:cNvSpPr txBox="true"/>
          <p:nvPr/>
        </p:nvSpPr>
        <p:spPr>
          <a:xfrm rot="0">
            <a:off x="9144000" y="6323242"/>
            <a:ext cx="4378101" cy="28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2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Majority of sensor no</a:t>
            </a:r>
            <a:r>
              <a:rPr lang="en-US" sz="2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 show latency within the acceptable range, indicating stable communication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261623"/>
            <a:ext cx="4048763" cy="665483"/>
            <a:chOff x="0" y="0"/>
            <a:chExt cx="5398351" cy="8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8262" cy="887224"/>
            </a:xfrm>
            <a:custGeom>
              <a:avLst/>
              <a:gdLst/>
              <a:ahLst/>
              <a:cxnLst/>
              <a:rect r="r" b="b" t="t" l="l"/>
              <a:pathLst>
                <a:path h="88722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70331"/>
                  </a:lnTo>
                  <a:cubicBezTo>
                    <a:pt x="5398262" y="879729"/>
                    <a:pt x="5390642" y="887222"/>
                    <a:pt x="538137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5381371" y="853440"/>
                  </a:lnTo>
                  <a:lnTo>
                    <a:pt x="5381371" y="870331"/>
                  </a:lnTo>
                  <a:lnTo>
                    <a:pt x="5364480" y="870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0" y="329184"/>
            <a:ext cx="4023360" cy="512064"/>
            <a:chOff x="0" y="0"/>
            <a:chExt cx="536448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3644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Jinukala Vaishnavi  |  SE23UARI054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5" y="34251"/>
            <a:ext cx="16459200" cy="1371600"/>
            <a:chOff x="0" y="0"/>
            <a:chExt cx="219456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Analysis &amp; Visualizations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8685" y="1405851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PDR Per Node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7851143"/>
            <a:ext cx="8255003" cy="884939"/>
            <a:chOff x="0" y="0"/>
            <a:chExt cx="11006671" cy="1179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62939"/>
                  </a:lnTo>
                  <a:cubicBezTo>
                    <a:pt x="11006582" y="1172337"/>
                    <a:pt x="10998962" y="1179830"/>
                    <a:pt x="1098969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0989691" y="1146048"/>
                  </a:lnTo>
                  <a:lnTo>
                    <a:pt x="10989691" y="1162939"/>
                  </a:lnTo>
                  <a:lnTo>
                    <a:pt x="10972800" y="11629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7851143"/>
            <a:ext cx="116843" cy="884939"/>
            <a:chOff x="0" y="0"/>
            <a:chExt cx="155791" cy="11799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2192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70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62939"/>
                  </a:lnTo>
                  <a:cubicBezTo>
                    <a:pt x="155702" y="1172337"/>
                    <a:pt x="148082" y="1179830"/>
                    <a:pt x="13881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38811" y="1146048"/>
                  </a:lnTo>
                  <a:lnTo>
                    <a:pt x="138811" y="1162939"/>
                  </a:lnTo>
                  <a:lnTo>
                    <a:pt x="121920" y="116293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9264" y="7936992"/>
            <a:ext cx="2560320" cy="365760"/>
            <a:chOff x="0" y="0"/>
            <a:chExt cx="341376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4137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Latency Distribution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264" y="8284464"/>
            <a:ext cx="7680960" cy="365760"/>
            <a:chOff x="0" y="0"/>
            <a:chExt cx="1024128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41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nodes: 50–150ms. A few outliers above 150ms flagged as HIGH.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05623" y="7851143"/>
            <a:ext cx="8255003" cy="884939"/>
            <a:chOff x="0" y="0"/>
            <a:chExt cx="11006671" cy="11799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097280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0658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62939"/>
                  </a:lnTo>
                  <a:cubicBezTo>
                    <a:pt x="11006582" y="1172337"/>
                    <a:pt x="10998962" y="1179830"/>
                    <a:pt x="1098969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0989691" y="1146048"/>
                  </a:lnTo>
                  <a:lnTo>
                    <a:pt x="10989691" y="1162939"/>
                  </a:lnTo>
                  <a:lnTo>
                    <a:pt x="10972800" y="11629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5623" y="7851143"/>
            <a:ext cx="116843" cy="884939"/>
            <a:chOff x="0" y="0"/>
            <a:chExt cx="155791" cy="11799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2192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70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62939"/>
                  </a:lnTo>
                  <a:cubicBezTo>
                    <a:pt x="155702" y="1172337"/>
                    <a:pt x="148082" y="1179830"/>
                    <a:pt x="13881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38811" y="1146048"/>
                  </a:lnTo>
                  <a:lnTo>
                    <a:pt x="138811" y="1162939"/>
                  </a:lnTo>
                  <a:lnTo>
                    <a:pt x="121920" y="116293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47504" y="7936992"/>
            <a:ext cx="2560320" cy="365760"/>
            <a:chOff x="0" y="0"/>
            <a:chExt cx="3413760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4137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PDR Per Node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47504" y="8284464"/>
            <a:ext cx="7680960" cy="365760"/>
            <a:chOff x="0" y="0"/>
            <a:chExt cx="1024128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241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38% of nodes fall below 0.8 threshold — flagged as LOW PDR in alerts.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7383" y="8856983"/>
            <a:ext cx="8255003" cy="884939"/>
            <a:chOff x="0" y="0"/>
            <a:chExt cx="11006671" cy="11799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62939"/>
                  </a:lnTo>
                  <a:cubicBezTo>
                    <a:pt x="11006582" y="1172337"/>
                    <a:pt x="10998962" y="1179830"/>
                    <a:pt x="1098969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0989691" y="1146048"/>
                  </a:lnTo>
                  <a:lnTo>
                    <a:pt x="10989691" y="1162939"/>
                  </a:lnTo>
                  <a:lnTo>
                    <a:pt x="10972800" y="11629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7383" y="8856983"/>
            <a:ext cx="116843" cy="884939"/>
            <a:chOff x="0" y="0"/>
            <a:chExt cx="155791" cy="11799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2192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70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62939"/>
                  </a:lnTo>
                  <a:cubicBezTo>
                    <a:pt x="155702" y="1172337"/>
                    <a:pt x="148082" y="1179830"/>
                    <a:pt x="13881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38811" y="1146048"/>
                  </a:lnTo>
                  <a:lnTo>
                    <a:pt x="138811" y="1162939"/>
                  </a:lnTo>
                  <a:lnTo>
                    <a:pt x="121920" y="116293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9264" y="8942832"/>
            <a:ext cx="2560320" cy="365760"/>
            <a:chOff x="0" y="0"/>
            <a:chExt cx="34137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4137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Energy vs Lifetime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9264" y="9290304"/>
            <a:ext cx="7680960" cy="365760"/>
            <a:chOff x="0" y="0"/>
            <a:chExt cx="1024128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241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Bubble chart reveals no strong linear relationship — energy usage varies widely.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5623" y="8856983"/>
            <a:ext cx="8255003" cy="884939"/>
            <a:chOff x="0" y="0"/>
            <a:chExt cx="11006671" cy="11799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97280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0658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62939"/>
                  </a:lnTo>
                  <a:cubicBezTo>
                    <a:pt x="11006582" y="1172337"/>
                    <a:pt x="10998962" y="1179830"/>
                    <a:pt x="1098969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0989691" y="1146048"/>
                  </a:lnTo>
                  <a:lnTo>
                    <a:pt x="10989691" y="1162939"/>
                  </a:lnTo>
                  <a:lnTo>
                    <a:pt x="10972800" y="11629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05623" y="8856983"/>
            <a:ext cx="116843" cy="884939"/>
            <a:chOff x="0" y="0"/>
            <a:chExt cx="155791" cy="11799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2192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5702" cy="1179832"/>
            </a:xfrm>
            <a:custGeom>
              <a:avLst/>
              <a:gdLst/>
              <a:ahLst/>
              <a:cxnLst/>
              <a:rect r="r" b="b" t="t" l="l"/>
              <a:pathLst>
                <a:path h="1179832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62939"/>
                  </a:lnTo>
                  <a:cubicBezTo>
                    <a:pt x="155702" y="1172337"/>
                    <a:pt x="148082" y="1179830"/>
                    <a:pt x="138811" y="1179830"/>
                  </a:cubicBezTo>
                  <a:lnTo>
                    <a:pt x="16891" y="1179830"/>
                  </a:lnTo>
                  <a:cubicBezTo>
                    <a:pt x="7620" y="1179957"/>
                    <a:pt x="0" y="1172337"/>
                    <a:pt x="0" y="1162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62939"/>
                  </a:lnTo>
                  <a:lnTo>
                    <a:pt x="16891" y="1162939"/>
                  </a:lnTo>
                  <a:lnTo>
                    <a:pt x="16891" y="1146048"/>
                  </a:lnTo>
                  <a:lnTo>
                    <a:pt x="138811" y="1146048"/>
                  </a:lnTo>
                  <a:lnTo>
                    <a:pt x="138811" y="1162939"/>
                  </a:lnTo>
                  <a:lnTo>
                    <a:pt x="121920" y="116293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47504" y="8942832"/>
            <a:ext cx="2560320" cy="365760"/>
            <a:chOff x="0" y="0"/>
            <a:chExt cx="341376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4137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Radar Analysis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47504" y="9290304"/>
            <a:ext cx="7680960" cy="365760"/>
            <a:chOff x="0" y="0"/>
            <a:chExt cx="1024128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balanced across Latency, PDR, Energy and Lifetime dimensions.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37165" y="2399803"/>
            <a:ext cx="7628310" cy="5156065"/>
          </a:xfrm>
          <a:custGeom>
            <a:avLst/>
            <a:gdLst/>
            <a:ahLst/>
            <a:cxnLst/>
            <a:rect r="r" b="b" t="t" l="l"/>
            <a:pathLst>
              <a:path h="5156065" w="7628310">
                <a:moveTo>
                  <a:pt x="0" y="0"/>
                </a:moveTo>
                <a:lnTo>
                  <a:pt x="7628310" y="0"/>
                </a:lnTo>
                <a:lnTo>
                  <a:pt x="7628310" y="5156065"/>
                </a:lnTo>
                <a:lnTo>
                  <a:pt x="0" y="5156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821642" y="2341206"/>
            <a:ext cx="10000730" cy="5300387"/>
          </a:xfrm>
          <a:custGeom>
            <a:avLst/>
            <a:gdLst/>
            <a:ahLst/>
            <a:cxnLst/>
            <a:rect r="r" b="b" t="t" l="l"/>
            <a:pathLst>
              <a:path h="5300387" w="10000730">
                <a:moveTo>
                  <a:pt x="0" y="0"/>
                </a:moveTo>
                <a:lnTo>
                  <a:pt x="10000730" y="0"/>
                </a:lnTo>
                <a:lnTo>
                  <a:pt x="10000730" y="5300387"/>
                </a:lnTo>
                <a:lnTo>
                  <a:pt x="0" y="5300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8366765" y="1701126"/>
            <a:ext cx="7498080" cy="640080"/>
            <a:chOff x="0" y="0"/>
            <a:chExt cx="999744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Energy Consumption 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240915" y="1701126"/>
            <a:ext cx="7498080" cy="640080"/>
            <a:chOff x="0" y="0"/>
            <a:chExt cx="9997440" cy="853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Energy vs Network Lifetime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261623"/>
            <a:ext cx="4048763" cy="665483"/>
            <a:chOff x="0" y="0"/>
            <a:chExt cx="5398351" cy="8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8262" cy="887224"/>
            </a:xfrm>
            <a:custGeom>
              <a:avLst/>
              <a:gdLst/>
              <a:ahLst/>
              <a:cxnLst/>
              <a:rect r="r" b="b" t="t" l="l"/>
              <a:pathLst>
                <a:path h="88722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70331"/>
                  </a:lnTo>
                  <a:cubicBezTo>
                    <a:pt x="5398262" y="879729"/>
                    <a:pt x="5390642" y="887222"/>
                    <a:pt x="538137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5381371" y="853440"/>
                  </a:lnTo>
                  <a:lnTo>
                    <a:pt x="5381371" y="870331"/>
                  </a:lnTo>
                  <a:lnTo>
                    <a:pt x="5364480" y="870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0" y="329184"/>
            <a:ext cx="4023360" cy="512064"/>
            <a:chOff x="0" y="0"/>
            <a:chExt cx="536448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3644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Pavani Reddy  |  SE23UMCS020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6304"/>
            <a:ext cx="12801600" cy="640080"/>
            <a:chOff x="0" y="0"/>
            <a:chExt cx="170688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694058"/>
            <a:ext cx="16459200" cy="1371600"/>
            <a:chOff x="0" y="0"/>
            <a:chExt cx="219456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 &amp; Data Pipeline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2065658"/>
            <a:ext cx="8255003" cy="5146043"/>
            <a:chOff x="0" y="0"/>
            <a:chExt cx="11006671" cy="6861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6844411"/>
                  </a:lnTo>
                  <a:cubicBezTo>
                    <a:pt x="11006582" y="6853809"/>
                    <a:pt x="10998962" y="6861301"/>
                    <a:pt x="1098969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0989691" y="6827520"/>
                  </a:lnTo>
                  <a:lnTo>
                    <a:pt x="10989691" y="6844411"/>
                  </a:lnTo>
                  <a:lnTo>
                    <a:pt x="10972800" y="6844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2224659"/>
            <a:ext cx="7498080" cy="640080"/>
            <a:chOff x="0" y="0"/>
            <a:chExt cx="999744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SQLite Schema: sensor_data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3071498"/>
            <a:ext cx="7706363" cy="683771"/>
            <a:chOff x="0" y="0"/>
            <a:chExt cx="10275151" cy="9116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1" cy="877824"/>
            </a:xfrm>
            <a:custGeom>
              <a:avLst/>
              <a:gdLst/>
              <a:ahLst/>
              <a:cxnLst/>
              <a:rect r="r" b="b" t="t" l="l"/>
              <a:pathLst>
                <a:path h="877824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5062" cy="911608"/>
            </a:xfrm>
            <a:custGeom>
              <a:avLst/>
              <a:gdLst/>
              <a:ahLst/>
              <a:cxnLst/>
              <a:rect r="r" b="b" t="t" l="l"/>
              <a:pathLst>
                <a:path h="911608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894715"/>
                  </a:lnTo>
                  <a:cubicBezTo>
                    <a:pt x="10275062" y="904113"/>
                    <a:pt x="10267442" y="911606"/>
                    <a:pt x="102581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258172" y="877824"/>
                  </a:lnTo>
                  <a:lnTo>
                    <a:pt x="10258172" y="894715"/>
                  </a:lnTo>
                  <a:lnTo>
                    <a:pt x="10241280" y="894715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" y="3193923"/>
            <a:ext cx="2194560" cy="438912"/>
            <a:chOff x="0" y="0"/>
            <a:chExt cx="292608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926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node_id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57600" y="3193923"/>
            <a:ext cx="1645920" cy="438912"/>
            <a:chOff x="0" y="0"/>
            <a:chExt cx="219456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0" y="3193923"/>
            <a:ext cx="2926080" cy="438912"/>
            <a:chOff x="0" y="0"/>
            <a:chExt cx="390144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Primary Key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3839594"/>
            <a:ext cx="7706363" cy="683771"/>
            <a:chOff x="0" y="0"/>
            <a:chExt cx="10275151" cy="9116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241281" cy="877824"/>
            </a:xfrm>
            <a:custGeom>
              <a:avLst/>
              <a:gdLst/>
              <a:ahLst/>
              <a:cxnLst/>
              <a:rect r="r" b="b" t="t" l="l"/>
              <a:pathLst>
                <a:path h="877824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75062" cy="911608"/>
            </a:xfrm>
            <a:custGeom>
              <a:avLst/>
              <a:gdLst/>
              <a:ahLst/>
              <a:cxnLst/>
              <a:rect r="r" b="b" t="t" l="l"/>
              <a:pathLst>
                <a:path h="911608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894715"/>
                  </a:lnTo>
                  <a:cubicBezTo>
                    <a:pt x="10275062" y="904113"/>
                    <a:pt x="10267442" y="911606"/>
                    <a:pt x="102581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258172" y="877824"/>
                  </a:lnTo>
                  <a:lnTo>
                    <a:pt x="10258172" y="894715"/>
                  </a:lnTo>
                  <a:lnTo>
                    <a:pt x="10241280" y="894715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3962019"/>
            <a:ext cx="2194560" cy="438912"/>
            <a:chOff x="0" y="0"/>
            <a:chExt cx="292608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926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pdr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657600" y="3962019"/>
            <a:ext cx="1645920" cy="438912"/>
            <a:chOff x="0" y="0"/>
            <a:chExt cx="219456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0" y="3962019"/>
            <a:ext cx="2926080" cy="438912"/>
            <a:chOff x="0" y="0"/>
            <a:chExt cx="390144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 – 1.0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1703" y="4607690"/>
            <a:ext cx="7706363" cy="683771"/>
            <a:chOff x="0" y="0"/>
            <a:chExt cx="10275151" cy="91169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241281" cy="877824"/>
            </a:xfrm>
            <a:custGeom>
              <a:avLst/>
              <a:gdLst/>
              <a:ahLst/>
              <a:cxnLst/>
              <a:rect r="r" b="b" t="t" l="l"/>
              <a:pathLst>
                <a:path h="877824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75062" cy="911608"/>
            </a:xfrm>
            <a:custGeom>
              <a:avLst/>
              <a:gdLst/>
              <a:ahLst/>
              <a:cxnLst/>
              <a:rect r="r" b="b" t="t" l="l"/>
              <a:pathLst>
                <a:path h="911608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894715"/>
                  </a:lnTo>
                  <a:cubicBezTo>
                    <a:pt x="10275062" y="904113"/>
                    <a:pt x="10267442" y="911606"/>
                    <a:pt x="102581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258172" y="877824"/>
                  </a:lnTo>
                  <a:lnTo>
                    <a:pt x="10258172" y="894715"/>
                  </a:lnTo>
                  <a:lnTo>
                    <a:pt x="10241280" y="894715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4730115"/>
            <a:ext cx="2194560" cy="438912"/>
            <a:chOff x="0" y="0"/>
            <a:chExt cx="292608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926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latency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657600" y="4730115"/>
            <a:ext cx="1645920" cy="438912"/>
            <a:chOff x="0" y="0"/>
            <a:chExt cx="219456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86400" y="4730115"/>
            <a:ext cx="2926080" cy="438912"/>
            <a:chOff x="0" y="0"/>
            <a:chExt cx="390144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milliseconds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1703" y="5375786"/>
            <a:ext cx="7706363" cy="683771"/>
            <a:chOff x="0" y="0"/>
            <a:chExt cx="10275151" cy="9116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241281" cy="877824"/>
            </a:xfrm>
            <a:custGeom>
              <a:avLst/>
              <a:gdLst/>
              <a:ahLst/>
              <a:cxnLst/>
              <a:rect r="r" b="b" t="t" l="l"/>
              <a:pathLst>
                <a:path h="877824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75062" cy="911608"/>
            </a:xfrm>
            <a:custGeom>
              <a:avLst/>
              <a:gdLst/>
              <a:ahLst/>
              <a:cxnLst/>
              <a:rect r="r" b="b" t="t" l="l"/>
              <a:pathLst>
                <a:path h="911608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894715"/>
                  </a:lnTo>
                  <a:cubicBezTo>
                    <a:pt x="10275062" y="904113"/>
                    <a:pt x="10267442" y="911606"/>
                    <a:pt x="102581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258172" y="877824"/>
                  </a:lnTo>
                  <a:lnTo>
                    <a:pt x="10258172" y="894715"/>
                  </a:lnTo>
                  <a:lnTo>
                    <a:pt x="10241280" y="894715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" y="5498211"/>
            <a:ext cx="2194560" cy="438912"/>
            <a:chOff x="0" y="0"/>
            <a:chExt cx="292608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926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energy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657600" y="5498211"/>
            <a:ext cx="1645920" cy="438912"/>
            <a:chOff x="0" y="0"/>
            <a:chExt cx="219456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86400" y="5498211"/>
            <a:ext cx="2926080" cy="438912"/>
            <a:chOff x="0" y="0"/>
            <a:chExt cx="3901440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joules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01703" y="6143882"/>
            <a:ext cx="7706363" cy="683771"/>
            <a:chOff x="0" y="0"/>
            <a:chExt cx="10275151" cy="9116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241281" cy="877824"/>
            </a:xfrm>
            <a:custGeom>
              <a:avLst/>
              <a:gdLst/>
              <a:ahLst/>
              <a:cxnLst/>
              <a:rect r="r" b="b" t="t" l="l"/>
              <a:pathLst>
                <a:path h="877824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75062" cy="911608"/>
            </a:xfrm>
            <a:custGeom>
              <a:avLst/>
              <a:gdLst/>
              <a:ahLst/>
              <a:cxnLst/>
              <a:rect r="r" b="b" t="t" l="l"/>
              <a:pathLst>
                <a:path h="911608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894715"/>
                  </a:lnTo>
                  <a:cubicBezTo>
                    <a:pt x="10275062" y="904113"/>
                    <a:pt x="10267442" y="911606"/>
                    <a:pt x="102581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258172" y="877824"/>
                  </a:lnTo>
                  <a:lnTo>
                    <a:pt x="10258172" y="894715"/>
                  </a:lnTo>
                  <a:lnTo>
                    <a:pt x="10241280" y="894715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88720" y="6266307"/>
            <a:ext cx="2194560" cy="438912"/>
            <a:chOff x="0" y="0"/>
            <a:chExt cx="292608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926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lifetime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657600" y="6266307"/>
            <a:ext cx="1645920" cy="438912"/>
            <a:chOff x="0" y="0"/>
            <a:chExt cx="2194560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486400" y="6266307"/>
            <a:ext cx="2926080" cy="438912"/>
            <a:chOff x="0" y="0"/>
            <a:chExt cx="3901440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seconds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05623" y="2065658"/>
            <a:ext cx="8255003" cy="5146043"/>
            <a:chOff x="0" y="0"/>
            <a:chExt cx="11006671" cy="68613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00658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6844411"/>
                  </a:lnTo>
                  <a:cubicBezTo>
                    <a:pt x="11006582" y="6853809"/>
                    <a:pt x="10998962" y="6861301"/>
                    <a:pt x="1098969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0989691" y="6827520"/>
                  </a:lnTo>
                  <a:lnTo>
                    <a:pt x="10989691" y="6844411"/>
                  </a:lnTo>
                  <a:lnTo>
                    <a:pt x="10972800" y="6844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84080" y="2224659"/>
            <a:ext cx="7315200" cy="640080"/>
            <a:chOff x="0" y="0"/>
            <a:chExt cx="975360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9753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Pipeline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71383" y="3089786"/>
            <a:ext cx="574043" cy="574043"/>
            <a:chOff x="0" y="0"/>
            <a:chExt cx="765391" cy="7653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84080" y="3102483"/>
            <a:ext cx="548640" cy="548640"/>
            <a:chOff x="0" y="0"/>
            <a:chExt cx="73152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A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515600" y="3084195"/>
            <a:ext cx="6766560" cy="365760"/>
            <a:chOff x="0" y="0"/>
            <a:chExt cx="902208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902208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Generate / Upload CSV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515600" y="3431667"/>
            <a:ext cx="6766560" cy="329184"/>
            <a:chOff x="0" y="0"/>
            <a:chExt cx="9022080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022080" cy="438912"/>
            </a:xfrm>
            <a:custGeom>
              <a:avLst/>
              <a:gdLst/>
              <a:ahLst/>
              <a:cxnLst/>
              <a:rect r="r" b="b" t="t" l="l"/>
              <a:pathLst>
                <a:path h="43891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022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nodes, 5 columns of sensor readings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771383" y="3912746"/>
            <a:ext cx="574043" cy="574043"/>
            <a:chOff x="0" y="0"/>
            <a:chExt cx="765391" cy="7653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84080" y="3925443"/>
            <a:ext cx="548640" cy="548640"/>
            <a:chOff x="0" y="0"/>
            <a:chExt cx="73152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A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515600" y="3907155"/>
            <a:ext cx="6766560" cy="365760"/>
            <a:chOff x="0" y="0"/>
            <a:chExt cx="902208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902208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Load with Pandas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515600" y="4254627"/>
            <a:ext cx="6766560" cy="329184"/>
            <a:chOff x="0" y="0"/>
            <a:chExt cx="9022080" cy="43891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022080" cy="438912"/>
            </a:xfrm>
            <a:custGeom>
              <a:avLst/>
              <a:gdLst/>
              <a:ahLst/>
              <a:cxnLst/>
              <a:rect r="r" b="b" t="t" l="l"/>
              <a:pathLst>
                <a:path h="43891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9022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pd.read_csv() → DataFrame with validation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771383" y="4735706"/>
            <a:ext cx="574043" cy="574043"/>
            <a:chOff x="0" y="0"/>
            <a:chExt cx="765391" cy="76539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784080" y="4748403"/>
            <a:ext cx="548640" cy="548640"/>
            <a:chOff x="0" y="0"/>
            <a:chExt cx="73152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A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515600" y="4730115"/>
            <a:ext cx="6766560" cy="365760"/>
            <a:chOff x="0" y="0"/>
            <a:chExt cx="902208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902208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Save to SQLite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515600" y="5077587"/>
            <a:ext cx="6766560" cy="329184"/>
            <a:chOff x="0" y="0"/>
            <a:chExt cx="9022080" cy="43891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022080" cy="438912"/>
            </a:xfrm>
            <a:custGeom>
              <a:avLst/>
              <a:gdLst/>
              <a:ahLst/>
              <a:cxnLst/>
              <a:rect r="r" b="b" t="t" l="l"/>
              <a:pathLst>
                <a:path h="43891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9022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save_to_db() via SQLAlchemy to_sql()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771383" y="5558666"/>
            <a:ext cx="574043" cy="574043"/>
            <a:chOff x="0" y="0"/>
            <a:chExt cx="765391" cy="76539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784080" y="5571363"/>
            <a:ext cx="548640" cy="548640"/>
            <a:chOff x="0" y="0"/>
            <a:chExt cx="731520" cy="7315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A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515600" y="5553075"/>
            <a:ext cx="6766560" cy="365760"/>
            <a:chOff x="0" y="0"/>
            <a:chExt cx="902208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902208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Query &amp; Filter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515600" y="5900547"/>
            <a:ext cx="6766560" cy="329184"/>
            <a:chOff x="0" y="0"/>
            <a:chExt cx="9022080" cy="43891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022080" cy="438912"/>
            </a:xfrm>
            <a:custGeom>
              <a:avLst/>
              <a:gdLst/>
              <a:ahLst/>
              <a:cxnLst/>
              <a:rect r="r" b="b" t="t" l="l"/>
              <a:pathLst>
                <a:path h="43891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022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 range slider → SQL WHERE clause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771383" y="6381626"/>
            <a:ext cx="574043" cy="574043"/>
            <a:chOff x="0" y="0"/>
            <a:chExt cx="765391" cy="76539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784080" y="6394323"/>
            <a:ext cx="548640" cy="548640"/>
            <a:chOff x="0" y="0"/>
            <a:chExt cx="731520" cy="7315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A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515600" y="6376035"/>
            <a:ext cx="6766560" cy="365760"/>
            <a:chOff x="0" y="0"/>
            <a:chExt cx="9022080" cy="48768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902208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Export Filtered CSV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515600" y="6723507"/>
            <a:ext cx="6766560" cy="329184"/>
            <a:chOff x="0" y="0"/>
            <a:chExt cx="9022080" cy="43891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022080" cy="438912"/>
            </a:xfrm>
            <a:custGeom>
              <a:avLst/>
              <a:gdLst/>
              <a:ahLst/>
              <a:cxnLst/>
              <a:rect r="r" b="b" t="t" l="l"/>
              <a:pathLst>
                <a:path h="43891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9022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Download button for post-analysis use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841506" y="7297426"/>
            <a:ext cx="16459200" cy="548640"/>
            <a:chOff x="0" y="0"/>
            <a:chExt cx="21945600" cy="73152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Raw  </a:t>
              </a: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(first 4 rows):</a:t>
              </a:r>
            </a:p>
          </p:txBody>
        </p:sp>
      </p:grpSp>
      <p:sp>
        <p:nvSpPr>
          <p:cNvPr name="Freeform 152" id="152"/>
          <p:cNvSpPr/>
          <p:nvPr/>
        </p:nvSpPr>
        <p:spPr>
          <a:xfrm flipH="false" flipV="false" rot="0">
            <a:off x="1188720" y="7707001"/>
            <a:ext cx="15816338" cy="2570155"/>
          </a:xfrm>
          <a:custGeom>
            <a:avLst/>
            <a:gdLst/>
            <a:ahLst/>
            <a:cxnLst/>
            <a:rect r="r" b="b" t="t" l="l"/>
            <a:pathLst>
              <a:path h="2570155" w="15816338">
                <a:moveTo>
                  <a:pt x="0" y="0"/>
                </a:moveTo>
                <a:lnTo>
                  <a:pt x="15816338" y="0"/>
                </a:lnTo>
                <a:lnTo>
                  <a:pt x="15816338" y="2570155"/>
                </a:lnTo>
                <a:lnTo>
                  <a:pt x="0" y="2570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261623"/>
            <a:ext cx="4048763" cy="665483"/>
            <a:chOff x="0" y="0"/>
            <a:chExt cx="5398351" cy="8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8262" cy="887224"/>
            </a:xfrm>
            <a:custGeom>
              <a:avLst/>
              <a:gdLst/>
              <a:ahLst/>
              <a:cxnLst/>
              <a:rect r="r" b="b" t="t" l="l"/>
              <a:pathLst>
                <a:path h="88722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70331"/>
                  </a:lnTo>
                  <a:cubicBezTo>
                    <a:pt x="5398262" y="879729"/>
                    <a:pt x="5390642" y="887222"/>
                    <a:pt x="538137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5381371" y="853440"/>
                  </a:lnTo>
                  <a:lnTo>
                    <a:pt x="5381371" y="870331"/>
                  </a:lnTo>
                  <a:lnTo>
                    <a:pt x="5364480" y="870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0" y="329184"/>
            <a:ext cx="4023360" cy="512064"/>
            <a:chOff x="0" y="0"/>
            <a:chExt cx="536448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3644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NJ Madhav  |  SE23UCSE122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6304"/>
            <a:ext cx="12801600" cy="640080"/>
            <a:chOff x="0" y="0"/>
            <a:chExt cx="170688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 API &amp; REPORTS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188720"/>
            <a:ext cx="16459200" cy="1371600"/>
            <a:chOff x="0" y="0"/>
            <a:chExt cx="219456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&amp; Report Generation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2913383"/>
            <a:ext cx="8255003" cy="4963163"/>
            <a:chOff x="0" y="0"/>
            <a:chExt cx="11006671" cy="6617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6583681"/>
            </a:xfrm>
            <a:custGeom>
              <a:avLst/>
              <a:gdLst/>
              <a:ahLst/>
              <a:cxnLst/>
              <a:rect r="r" b="b" t="t" l="l"/>
              <a:pathLst>
                <a:path h="65836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1"/>
                  </a:lnTo>
                  <a:lnTo>
                    <a:pt x="0" y="658368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6617462"/>
            </a:xfrm>
            <a:custGeom>
              <a:avLst/>
              <a:gdLst/>
              <a:ahLst/>
              <a:cxnLst/>
              <a:rect r="r" b="b" t="t" l="l"/>
              <a:pathLst>
                <a:path h="66174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6600572"/>
                  </a:lnTo>
                  <a:cubicBezTo>
                    <a:pt x="11006582" y="6609969"/>
                    <a:pt x="10998962" y="6617462"/>
                    <a:pt x="10989691" y="6617462"/>
                  </a:cubicBezTo>
                  <a:lnTo>
                    <a:pt x="16891" y="6617462"/>
                  </a:lnTo>
                  <a:cubicBezTo>
                    <a:pt x="7493" y="6617462"/>
                    <a:pt x="0" y="6609842"/>
                    <a:pt x="0" y="6600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600572"/>
                  </a:lnTo>
                  <a:lnTo>
                    <a:pt x="16891" y="6600572"/>
                  </a:lnTo>
                  <a:lnTo>
                    <a:pt x="16891" y="6583680"/>
                  </a:lnTo>
                  <a:lnTo>
                    <a:pt x="10989691" y="6583680"/>
                  </a:lnTo>
                  <a:lnTo>
                    <a:pt x="10989691" y="6600572"/>
                  </a:lnTo>
                  <a:lnTo>
                    <a:pt x="10972800" y="66005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3072384"/>
            <a:ext cx="7498080" cy="640080"/>
            <a:chOff x="0" y="0"/>
            <a:chExt cx="999744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Flask REST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3882647"/>
            <a:ext cx="1031243" cy="574043"/>
            <a:chOff x="0" y="0"/>
            <a:chExt cx="1374991" cy="765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4902" cy="765304"/>
            </a:xfrm>
            <a:custGeom>
              <a:avLst/>
              <a:gdLst/>
              <a:ahLst/>
              <a:cxnLst/>
              <a:rect r="r" b="b" t="t" l="l"/>
              <a:pathLst>
                <a:path h="76530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748411"/>
                  </a:lnTo>
                  <a:cubicBezTo>
                    <a:pt x="1374902" y="757809"/>
                    <a:pt x="1367282" y="765302"/>
                    <a:pt x="13580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58011" y="731520"/>
                  </a:lnTo>
                  <a:lnTo>
                    <a:pt x="1358011" y="748411"/>
                  </a:lnTo>
                  <a:lnTo>
                    <a:pt x="1341120" y="7484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3968496"/>
            <a:ext cx="1005840" cy="402336"/>
            <a:chOff x="0" y="0"/>
            <a:chExt cx="134112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4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03120" y="3968496"/>
            <a:ext cx="2560320" cy="402336"/>
            <a:chOff x="0" y="0"/>
            <a:chExt cx="341376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13760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413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/data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03120" y="4370832"/>
            <a:ext cx="6583680" cy="402336"/>
            <a:chOff x="0" y="0"/>
            <a:chExt cx="8778240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 sensor data as JSON array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4851911"/>
            <a:ext cx="1031243" cy="574043"/>
            <a:chOff x="0" y="0"/>
            <a:chExt cx="1374991" cy="765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4902" cy="765304"/>
            </a:xfrm>
            <a:custGeom>
              <a:avLst/>
              <a:gdLst/>
              <a:ahLst/>
              <a:cxnLst/>
              <a:rect r="r" b="b" t="t" l="l"/>
              <a:pathLst>
                <a:path h="76530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748411"/>
                  </a:lnTo>
                  <a:cubicBezTo>
                    <a:pt x="1374902" y="757809"/>
                    <a:pt x="1367282" y="765302"/>
                    <a:pt x="13580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58011" y="731520"/>
                  </a:lnTo>
                  <a:lnTo>
                    <a:pt x="1358011" y="748411"/>
                  </a:lnTo>
                  <a:lnTo>
                    <a:pt x="1341120" y="7484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937760"/>
            <a:ext cx="1005840" cy="402336"/>
            <a:chOff x="0" y="0"/>
            <a:chExt cx="134112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4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GET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03120" y="4937760"/>
            <a:ext cx="2560320" cy="402336"/>
            <a:chOff x="0" y="0"/>
            <a:chExt cx="341376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0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413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/data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3120" y="5340096"/>
            <a:ext cx="6583680" cy="402336"/>
            <a:chOff x="0" y="0"/>
            <a:chExt cx="877824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 all sensor records from database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1703" y="5821175"/>
            <a:ext cx="1031243" cy="574043"/>
            <a:chOff x="0" y="0"/>
            <a:chExt cx="1374991" cy="7653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A2A1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4902" cy="765304"/>
            </a:xfrm>
            <a:custGeom>
              <a:avLst/>
              <a:gdLst/>
              <a:ahLst/>
              <a:cxnLst/>
              <a:rect r="r" b="b" t="t" l="l"/>
              <a:pathLst>
                <a:path h="76530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748411"/>
                  </a:lnTo>
                  <a:cubicBezTo>
                    <a:pt x="1374902" y="757809"/>
                    <a:pt x="1367282" y="765302"/>
                    <a:pt x="13580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58011" y="731520"/>
                  </a:lnTo>
                  <a:lnTo>
                    <a:pt x="1358011" y="748411"/>
                  </a:lnTo>
                  <a:lnTo>
                    <a:pt x="1341120" y="7484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5907024"/>
            <a:ext cx="1005840" cy="402336"/>
            <a:chOff x="0" y="0"/>
            <a:chExt cx="134112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34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GET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03120" y="5907024"/>
            <a:ext cx="2560320" cy="402336"/>
            <a:chOff x="0" y="0"/>
            <a:chExt cx="341376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13760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413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/analysis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03120" y="6309360"/>
            <a:ext cx="6583680" cy="402336"/>
            <a:chOff x="0" y="0"/>
            <a:chExt cx="877824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 statistical analysis results as JSON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1703" y="6790439"/>
            <a:ext cx="1031243" cy="574043"/>
            <a:chOff x="0" y="0"/>
            <a:chExt cx="1374991" cy="7653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765304"/>
            </a:xfrm>
            <a:custGeom>
              <a:avLst/>
              <a:gdLst/>
              <a:ahLst/>
              <a:cxnLst/>
              <a:rect r="r" b="b" t="t" l="l"/>
              <a:pathLst>
                <a:path h="76530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748411"/>
                  </a:lnTo>
                  <a:cubicBezTo>
                    <a:pt x="1374902" y="757809"/>
                    <a:pt x="1367282" y="765302"/>
                    <a:pt x="13580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58011" y="731520"/>
                  </a:lnTo>
                  <a:lnTo>
                    <a:pt x="1358011" y="748411"/>
                  </a:lnTo>
                  <a:lnTo>
                    <a:pt x="1341120" y="7484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444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6876288"/>
            <a:ext cx="1005840" cy="402336"/>
            <a:chOff x="0" y="0"/>
            <a:chExt cx="134112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34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0E0E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GET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103120" y="6876288"/>
            <a:ext cx="2560320" cy="402336"/>
            <a:chOff x="0" y="0"/>
            <a:chExt cx="341376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13760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3413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/report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103120" y="7278624"/>
            <a:ext cx="6583680" cy="402336"/>
            <a:chOff x="0" y="0"/>
            <a:chExt cx="877824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Download auto-generated PDF analysis report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5623" y="2913383"/>
            <a:ext cx="8255003" cy="4963163"/>
            <a:chOff x="0" y="0"/>
            <a:chExt cx="11006671" cy="66175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6583681"/>
            </a:xfrm>
            <a:custGeom>
              <a:avLst/>
              <a:gdLst/>
              <a:ahLst/>
              <a:cxnLst/>
              <a:rect r="r" b="b" t="t" l="l"/>
              <a:pathLst>
                <a:path h="65836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1"/>
                  </a:lnTo>
                  <a:lnTo>
                    <a:pt x="0" y="658368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6617462"/>
            </a:xfrm>
            <a:custGeom>
              <a:avLst/>
              <a:gdLst/>
              <a:ahLst/>
              <a:cxnLst/>
              <a:rect r="r" b="b" t="t" l="l"/>
              <a:pathLst>
                <a:path h="66174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6600572"/>
                  </a:lnTo>
                  <a:cubicBezTo>
                    <a:pt x="11006582" y="6609969"/>
                    <a:pt x="10998962" y="6617462"/>
                    <a:pt x="10989691" y="6617462"/>
                  </a:cubicBezTo>
                  <a:lnTo>
                    <a:pt x="16891" y="6617462"/>
                  </a:lnTo>
                  <a:cubicBezTo>
                    <a:pt x="7493" y="6617462"/>
                    <a:pt x="0" y="6609842"/>
                    <a:pt x="0" y="6600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600572"/>
                  </a:lnTo>
                  <a:lnTo>
                    <a:pt x="16891" y="6600572"/>
                  </a:lnTo>
                  <a:lnTo>
                    <a:pt x="16891" y="6583680"/>
                  </a:lnTo>
                  <a:lnTo>
                    <a:pt x="10989691" y="6583680"/>
                  </a:lnTo>
                  <a:lnTo>
                    <a:pt x="10989691" y="6600572"/>
                  </a:lnTo>
                  <a:lnTo>
                    <a:pt x="10972800" y="66005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84080" y="3072384"/>
            <a:ext cx="7498080" cy="640080"/>
            <a:chOff x="0" y="0"/>
            <a:chExt cx="99974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Automated PDF Reports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79943" y="3919223"/>
            <a:ext cx="171707" cy="427739"/>
            <a:chOff x="0" y="0"/>
            <a:chExt cx="228943" cy="5703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95072" cy="536448"/>
            </a:xfrm>
            <a:custGeom>
              <a:avLst/>
              <a:gdLst/>
              <a:ahLst/>
              <a:cxnLst/>
              <a:rect r="r" b="b" t="t" l="l"/>
              <a:pathLst>
                <a:path h="5364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8854" cy="570232"/>
            </a:xfrm>
            <a:custGeom>
              <a:avLst/>
              <a:gdLst/>
              <a:ahLst/>
              <a:cxnLst/>
              <a:rect r="r" b="b" t="t" l="l"/>
              <a:pathLst>
                <a:path h="57023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553339"/>
                  </a:lnTo>
                  <a:cubicBezTo>
                    <a:pt x="228854" y="562737"/>
                    <a:pt x="221234" y="570230"/>
                    <a:pt x="211963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11963" y="536448"/>
                  </a:lnTo>
                  <a:lnTo>
                    <a:pt x="211963" y="553339"/>
                  </a:lnTo>
                  <a:lnTo>
                    <a:pt x="195072" y="5533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058400" y="3895344"/>
            <a:ext cx="7315200" cy="548640"/>
            <a:chOff x="0" y="0"/>
            <a:chExt cx="97536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summary with avg PDR, latency, energy, lifetime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79943" y="4687319"/>
            <a:ext cx="171707" cy="427739"/>
            <a:chOff x="0" y="0"/>
            <a:chExt cx="228943" cy="57031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95072" cy="536448"/>
            </a:xfrm>
            <a:custGeom>
              <a:avLst/>
              <a:gdLst/>
              <a:ahLst/>
              <a:cxnLst/>
              <a:rect r="r" b="b" t="t" l="l"/>
              <a:pathLst>
                <a:path h="5364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8854" cy="570232"/>
            </a:xfrm>
            <a:custGeom>
              <a:avLst/>
              <a:gdLst/>
              <a:ahLst/>
              <a:cxnLst/>
              <a:rect r="r" b="b" t="t" l="l"/>
              <a:pathLst>
                <a:path h="57023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553339"/>
                  </a:lnTo>
                  <a:cubicBezTo>
                    <a:pt x="228854" y="562737"/>
                    <a:pt x="221234" y="570230"/>
                    <a:pt x="211963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11963" y="536448"/>
                  </a:lnTo>
                  <a:lnTo>
                    <a:pt x="211963" y="553339"/>
                  </a:lnTo>
                  <a:lnTo>
                    <a:pt x="195072" y="5533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058400" y="4663440"/>
            <a:ext cx="7315200" cy="548640"/>
            <a:chOff x="0" y="0"/>
            <a:chExt cx="975360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 health breakdown — healthy vs weak count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79943" y="5455415"/>
            <a:ext cx="171707" cy="427739"/>
            <a:chOff x="0" y="0"/>
            <a:chExt cx="228943" cy="5703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95072" cy="536448"/>
            </a:xfrm>
            <a:custGeom>
              <a:avLst/>
              <a:gdLst/>
              <a:ahLst/>
              <a:cxnLst/>
              <a:rect r="r" b="b" t="t" l="l"/>
              <a:pathLst>
                <a:path h="5364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8854" cy="570232"/>
            </a:xfrm>
            <a:custGeom>
              <a:avLst/>
              <a:gdLst/>
              <a:ahLst/>
              <a:cxnLst/>
              <a:rect r="r" b="b" t="t" l="l"/>
              <a:pathLst>
                <a:path h="57023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553339"/>
                  </a:lnTo>
                  <a:cubicBezTo>
                    <a:pt x="228854" y="562737"/>
                    <a:pt x="221234" y="570230"/>
                    <a:pt x="211963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11963" y="536448"/>
                  </a:lnTo>
                  <a:lnTo>
                    <a:pt x="211963" y="553339"/>
                  </a:lnTo>
                  <a:lnTo>
                    <a:pt x="195072" y="5533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058400" y="5431536"/>
            <a:ext cx="7315200" cy="548640"/>
            <a:chOff x="0" y="0"/>
            <a:chExt cx="97536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details: which nodes need attention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79943" y="6223511"/>
            <a:ext cx="171707" cy="427739"/>
            <a:chOff x="0" y="0"/>
            <a:chExt cx="228943" cy="57031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95072" cy="536448"/>
            </a:xfrm>
            <a:custGeom>
              <a:avLst/>
              <a:gdLst/>
              <a:ahLst/>
              <a:cxnLst/>
              <a:rect r="r" b="b" t="t" l="l"/>
              <a:pathLst>
                <a:path h="5364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8854" cy="570232"/>
            </a:xfrm>
            <a:custGeom>
              <a:avLst/>
              <a:gdLst/>
              <a:ahLst/>
              <a:cxnLst/>
              <a:rect r="r" b="b" t="t" l="l"/>
              <a:pathLst>
                <a:path h="57023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553339"/>
                  </a:lnTo>
                  <a:cubicBezTo>
                    <a:pt x="228854" y="562737"/>
                    <a:pt x="221234" y="570230"/>
                    <a:pt x="211963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11963" y="536448"/>
                  </a:lnTo>
                  <a:lnTo>
                    <a:pt x="211963" y="553339"/>
                  </a:lnTo>
                  <a:lnTo>
                    <a:pt x="195072" y="5533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058400" y="6199632"/>
            <a:ext cx="7315200" cy="548640"/>
            <a:chOff x="0" y="0"/>
            <a:chExt cx="975360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deviation &amp; variance statistics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79943" y="6991607"/>
            <a:ext cx="171707" cy="427739"/>
            <a:chOff x="0" y="0"/>
            <a:chExt cx="228943" cy="57031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95072" cy="536448"/>
            </a:xfrm>
            <a:custGeom>
              <a:avLst/>
              <a:gdLst/>
              <a:ahLst/>
              <a:cxnLst/>
              <a:rect r="r" b="b" t="t" l="l"/>
              <a:pathLst>
                <a:path h="5364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8854" cy="570232"/>
            </a:xfrm>
            <a:custGeom>
              <a:avLst/>
              <a:gdLst/>
              <a:ahLst/>
              <a:cxnLst/>
              <a:rect r="r" b="b" t="t" l="l"/>
              <a:pathLst>
                <a:path h="57023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553339"/>
                  </a:lnTo>
                  <a:cubicBezTo>
                    <a:pt x="228854" y="562737"/>
                    <a:pt x="221234" y="570230"/>
                    <a:pt x="211963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11963" y="536448"/>
                  </a:lnTo>
                  <a:lnTo>
                    <a:pt x="211963" y="553339"/>
                  </a:lnTo>
                  <a:lnTo>
                    <a:pt x="195072" y="5533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058400" y="6967728"/>
            <a:ext cx="7315200" cy="548640"/>
            <a:chOff x="0" y="0"/>
            <a:chExt cx="975360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Generated using ReportLab — auto-saved to reports/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7383" y="8125463"/>
            <a:ext cx="17033243" cy="1799339"/>
            <a:chOff x="0" y="0"/>
            <a:chExt cx="22710991" cy="239911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2677119" cy="2365248"/>
            </a:xfrm>
            <a:custGeom>
              <a:avLst/>
              <a:gdLst/>
              <a:ahLst/>
              <a:cxnLst/>
              <a:rect r="r" b="b" t="t" l="l"/>
              <a:pathLst>
                <a:path h="236524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365248"/>
                  </a:lnTo>
                  <a:lnTo>
                    <a:pt x="0" y="2365248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710902" cy="2399030"/>
            </a:xfrm>
            <a:custGeom>
              <a:avLst/>
              <a:gdLst/>
              <a:ahLst/>
              <a:cxnLst/>
              <a:rect r="r" b="b" t="t" l="l"/>
              <a:pathLst>
                <a:path h="2399030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382139"/>
                  </a:lnTo>
                  <a:cubicBezTo>
                    <a:pt x="22710902" y="2391537"/>
                    <a:pt x="22703282" y="2399030"/>
                    <a:pt x="22694010" y="2399030"/>
                  </a:cubicBezTo>
                  <a:lnTo>
                    <a:pt x="16891" y="2399030"/>
                  </a:lnTo>
                  <a:cubicBezTo>
                    <a:pt x="7493" y="2399030"/>
                    <a:pt x="0" y="2391410"/>
                    <a:pt x="0" y="23821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82139"/>
                  </a:lnTo>
                  <a:lnTo>
                    <a:pt x="16891" y="2382139"/>
                  </a:lnTo>
                  <a:lnTo>
                    <a:pt x="16891" y="2365248"/>
                  </a:lnTo>
                  <a:lnTo>
                    <a:pt x="22694010" y="2365248"/>
                  </a:lnTo>
                  <a:lnTo>
                    <a:pt x="22694010" y="2382139"/>
                  </a:lnTo>
                  <a:lnTo>
                    <a:pt x="22677120" y="238213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05840" y="8229600"/>
            <a:ext cx="16459200" cy="402336"/>
            <a:chOff x="0" y="0"/>
            <a:chExt cx="2194560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# api/api.py — Flask endpoint example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05840" y="8631936"/>
            <a:ext cx="16459200" cy="1097280"/>
            <a:chOff x="0" y="0"/>
            <a:chExt cx="21945600" cy="14630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B0B0"/>
                  </a:solidFill>
                  <a:latin typeface="Consolas"/>
                  <a:ea typeface="Consolas"/>
                  <a:cs typeface="Consolas"/>
                  <a:sym typeface="Consolas"/>
                </a:rPr>
                <a:t>@app.route("/analysis")  →  returns avg_pdr, avg_latency, health_score as JSON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B0B0"/>
                  </a:solidFill>
                  <a:latin typeface="Consolas"/>
                  <a:ea typeface="Consolas"/>
                  <a:cs typeface="Consolas"/>
                  <a:sym typeface="Consolas"/>
                </a:rPr>
                <a:t>generate_report(results)  →  saves analysis PDF to reports/report.pdf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18872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Findings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913383"/>
            <a:ext cx="3865883" cy="2585723"/>
            <a:chOff x="0" y="0"/>
            <a:chExt cx="5154511" cy="3447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422" cy="3447542"/>
            </a:xfrm>
            <a:custGeom>
              <a:avLst/>
              <a:gdLst/>
              <a:ahLst/>
              <a:cxnLst/>
              <a:rect r="r" b="b" t="t" l="l"/>
              <a:pathLst>
                <a:path h="34475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430651"/>
                  </a:lnTo>
                  <a:cubicBezTo>
                    <a:pt x="5154422" y="3440049"/>
                    <a:pt x="5146802" y="3447542"/>
                    <a:pt x="513753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137531" y="3413760"/>
                  </a:lnTo>
                  <a:lnTo>
                    <a:pt x="5137531" y="3430651"/>
                  </a:lnTo>
                  <a:lnTo>
                    <a:pt x="5120640" y="34306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072384"/>
            <a:ext cx="3474720" cy="1371600"/>
            <a:chOff x="0" y="0"/>
            <a:chExt cx="463296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632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425696"/>
            <a:ext cx="3474720" cy="877824"/>
            <a:chOff x="0" y="0"/>
            <a:chExt cx="4632960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632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Sensor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Nodes Analyzed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25063" y="2913383"/>
            <a:ext cx="3865883" cy="2585723"/>
            <a:chOff x="0" y="0"/>
            <a:chExt cx="5154511" cy="34476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4422" cy="3447542"/>
            </a:xfrm>
            <a:custGeom>
              <a:avLst/>
              <a:gdLst/>
              <a:ahLst/>
              <a:cxnLst/>
              <a:rect r="r" b="b" t="t" l="l"/>
              <a:pathLst>
                <a:path h="34475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430651"/>
                  </a:lnTo>
                  <a:cubicBezTo>
                    <a:pt x="5154422" y="3440049"/>
                    <a:pt x="5146802" y="3447542"/>
                    <a:pt x="513753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137531" y="3413760"/>
                  </a:lnTo>
                  <a:lnTo>
                    <a:pt x="5137531" y="3430651"/>
                  </a:lnTo>
                  <a:lnTo>
                    <a:pt x="5120640" y="34306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120640" y="3072384"/>
            <a:ext cx="3474720" cy="1371600"/>
            <a:chOff x="0" y="0"/>
            <a:chExt cx="463296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632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0.806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20640" y="4425696"/>
            <a:ext cx="3474720" cy="877824"/>
            <a:chOff x="0" y="0"/>
            <a:chExt cx="4632960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2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32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PDR Score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22743" y="2913383"/>
            <a:ext cx="3865883" cy="2585723"/>
            <a:chOff x="0" y="0"/>
            <a:chExt cx="5154511" cy="34476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4422" cy="3447542"/>
            </a:xfrm>
            <a:custGeom>
              <a:avLst/>
              <a:gdLst/>
              <a:ahLst/>
              <a:cxnLst/>
              <a:rect r="r" b="b" t="t" l="l"/>
              <a:pathLst>
                <a:path h="34475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430651"/>
                  </a:lnTo>
                  <a:cubicBezTo>
                    <a:pt x="5154422" y="3440049"/>
                    <a:pt x="5146802" y="3447542"/>
                    <a:pt x="513753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137531" y="3413760"/>
                  </a:lnTo>
                  <a:lnTo>
                    <a:pt x="5137531" y="3430651"/>
                  </a:lnTo>
                  <a:lnTo>
                    <a:pt x="5120640" y="34306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18320" y="3072384"/>
            <a:ext cx="3474720" cy="1371600"/>
            <a:chOff x="0" y="0"/>
            <a:chExt cx="463296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632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55%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18320" y="4425696"/>
            <a:ext cx="3474720" cy="877824"/>
            <a:chOff x="0" y="0"/>
            <a:chExt cx="463296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32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632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20423" y="2913383"/>
            <a:ext cx="3865883" cy="2585723"/>
            <a:chOff x="0" y="0"/>
            <a:chExt cx="5154511" cy="34476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54422" cy="3447542"/>
            </a:xfrm>
            <a:custGeom>
              <a:avLst/>
              <a:gdLst/>
              <a:ahLst/>
              <a:cxnLst/>
              <a:rect r="r" b="b" t="t" l="l"/>
              <a:pathLst>
                <a:path h="34475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430651"/>
                  </a:lnTo>
                  <a:cubicBezTo>
                    <a:pt x="5154422" y="3440049"/>
                    <a:pt x="5146802" y="3447542"/>
                    <a:pt x="513753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137531" y="3413760"/>
                  </a:lnTo>
                  <a:lnTo>
                    <a:pt x="5137531" y="3430651"/>
                  </a:lnTo>
                  <a:lnTo>
                    <a:pt x="5120640" y="34306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0" y="3072384"/>
            <a:ext cx="3474720" cy="1371600"/>
            <a:chOff x="0" y="0"/>
            <a:chExt cx="463296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632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65.62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0" y="4425696"/>
            <a:ext cx="3474720" cy="877824"/>
            <a:chOff x="0" y="0"/>
            <a:chExt cx="4632960" cy="11704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32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632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Score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27383" y="5839463"/>
            <a:ext cx="8255003" cy="1671323"/>
            <a:chOff x="0" y="0"/>
            <a:chExt cx="11006671" cy="22284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211451"/>
                  </a:lnTo>
                  <a:cubicBezTo>
                    <a:pt x="11006582" y="2220849"/>
                    <a:pt x="10998962" y="2228342"/>
                    <a:pt x="109896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989691" y="2194560"/>
                  </a:lnTo>
                  <a:lnTo>
                    <a:pt x="10989691" y="2211451"/>
                  </a:lnTo>
                  <a:lnTo>
                    <a:pt x="10972800" y="22114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27383" y="5839463"/>
            <a:ext cx="135131" cy="1671323"/>
            <a:chOff x="0" y="0"/>
            <a:chExt cx="180175" cy="2228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5840" y="5998464"/>
            <a:ext cx="7680960" cy="512064"/>
            <a:chOff x="0" y="0"/>
            <a:chExt cx="102412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241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 PDR Issue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5840" y="6547104"/>
            <a:ext cx="7589520" cy="841248"/>
            <a:chOff x="0" y="0"/>
            <a:chExt cx="10119360" cy="11216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19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88" r="0" b="-1257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11936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42% of nodes (21/50) fall below the 0.8 PDR threshold — indicating packet loss. Likely due to distance or interference.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05623" y="5839463"/>
            <a:ext cx="8255003" cy="1671323"/>
            <a:chOff x="0" y="0"/>
            <a:chExt cx="11006671" cy="22284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065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211451"/>
                  </a:lnTo>
                  <a:cubicBezTo>
                    <a:pt x="11006582" y="2220849"/>
                    <a:pt x="10998962" y="2228342"/>
                    <a:pt x="109896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989691" y="2194560"/>
                  </a:lnTo>
                  <a:lnTo>
                    <a:pt x="10989691" y="2211451"/>
                  </a:lnTo>
                  <a:lnTo>
                    <a:pt x="10972800" y="22114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05623" y="5839463"/>
            <a:ext cx="135131" cy="1671323"/>
            <a:chOff x="0" y="0"/>
            <a:chExt cx="180175" cy="22284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784080" y="5998464"/>
            <a:ext cx="7680960" cy="512064"/>
            <a:chOff x="0" y="0"/>
            <a:chExt cx="102412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0241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Latency Nodes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84080" y="6547104"/>
            <a:ext cx="7589520" cy="841248"/>
            <a:chOff x="0" y="0"/>
            <a:chExt cx="10119360" cy="1121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119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88" r="0" b="-12578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11936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26% of nodes (13/50) exceed 150ms threshold. Average latency at 113.8ms — some nodes require investigation.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27383" y="7759703"/>
            <a:ext cx="8255003" cy="1671323"/>
            <a:chOff x="0" y="0"/>
            <a:chExt cx="11006671" cy="2228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211451"/>
                  </a:lnTo>
                  <a:cubicBezTo>
                    <a:pt x="11006582" y="2220849"/>
                    <a:pt x="10998962" y="2228342"/>
                    <a:pt x="109896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989691" y="2194560"/>
                  </a:lnTo>
                  <a:lnTo>
                    <a:pt x="10989691" y="2211451"/>
                  </a:lnTo>
                  <a:lnTo>
                    <a:pt x="10972800" y="22114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27383" y="7759703"/>
            <a:ext cx="135131" cy="1671323"/>
            <a:chOff x="0" y="0"/>
            <a:chExt cx="180175" cy="22284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5840" y="7918704"/>
            <a:ext cx="7680960" cy="512064"/>
            <a:chOff x="0" y="0"/>
            <a:chExt cx="102412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0241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Energy Inefficiency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5840" y="8467344"/>
            <a:ext cx="7589520" cy="841248"/>
            <a:chOff x="0" y="0"/>
            <a:chExt cx="10119360" cy="1121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119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88" r="0" b="-12578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11936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22% of nodes (11/50) have HIGH energy consumption. Poor lifetime correlation suggests sensor duty-cycle issues.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05623" y="7759703"/>
            <a:ext cx="8255003" cy="1671323"/>
            <a:chOff x="0" y="0"/>
            <a:chExt cx="11006671" cy="22284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0065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211451"/>
                  </a:lnTo>
                  <a:cubicBezTo>
                    <a:pt x="11006582" y="2220849"/>
                    <a:pt x="10998962" y="2228342"/>
                    <a:pt x="109896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989691" y="2194560"/>
                  </a:lnTo>
                  <a:lnTo>
                    <a:pt x="10989691" y="2211451"/>
                  </a:lnTo>
                  <a:lnTo>
                    <a:pt x="10972800" y="22114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405623" y="7759703"/>
            <a:ext cx="135131" cy="1671323"/>
            <a:chOff x="0" y="0"/>
            <a:chExt cx="180175" cy="22284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84080" y="7918704"/>
            <a:ext cx="7680960" cy="512064"/>
            <a:chOff x="0" y="0"/>
            <a:chExt cx="1024128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0241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Weak Correlations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784080" y="8467344"/>
            <a:ext cx="7589520" cy="841248"/>
            <a:chOff x="0" y="0"/>
            <a:chExt cx="10119360" cy="11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119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88" r="0" b="-12578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11936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Heatmap shows near-zero correlations between metrics — each variable behaves independently in this dataset.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939803"/>
            <a:chOff x="0" y="0"/>
            <a:chExt cx="24417871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36091"/>
                  </a:lnTo>
                  <a:cubicBezTo>
                    <a:pt x="24417782" y="1245489"/>
                    <a:pt x="24410163" y="1252982"/>
                    <a:pt x="2440089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4400890" y="1219200"/>
                  </a:lnTo>
                  <a:lnTo>
                    <a:pt x="24400890" y="1236091"/>
                  </a:lnTo>
                  <a:lnTo>
                    <a:pt x="24384000" y="1236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775973"/>
            <a:ext cx="16459200" cy="1188720"/>
            <a:chOff x="0" y="0"/>
            <a:chExt cx="219456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Work &amp;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1781813"/>
            <a:ext cx="16459200" cy="1188720"/>
            <a:chOff x="0" y="0"/>
            <a:chExt cx="21945600" cy="158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CCCCC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78" y="2970533"/>
            <a:ext cx="8255003" cy="5694683"/>
            <a:chOff x="0" y="0"/>
            <a:chExt cx="11006671" cy="7592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0" cy="7559040"/>
            </a:xfrm>
            <a:custGeom>
              <a:avLst/>
              <a:gdLst/>
              <a:ahLst/>
              <a:cxnLst/>
              <a:rect r="r" b="b" t="t" l="l"/>
              <a:pathLst>
                <a:path h="7559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7592822"/>
            </a:xfrm>
            <a:custGeom>
              <a:avLst/>
              <a:gdLst/>
              <a:ahLst/>
              <a:cxnLst/>
              <a:rect r="r" b="b" t="t" l="l"/>
              <a:pathLst>
                <a:path h="75928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575931"/>
                  </a:lnTo>
                  <a:cubicBezTo>
                    <a:pt x="11006582" y="7585329"/>
                    <a:pt x="10998962" y="7592822"/>
                    <a:pt x="10989691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10989691" y="7559040"/>
                  </a:lnTo>
                  <a:lnTo>
                    <a:pt x="10989691" y="7575931"/>
                  </a:lnTo>
                  <a:lnTo>
                    <a:pt x="10972800" y="75759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35" y="3129534"/>
            <a:ext cx="7498080" cy="640080"/>
            <a:chOff x="0" y="0"/>
            <a:chExt cx="99974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Improvements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35" y="3989070"/>
            <a:ext cx="7498080" cy="402336"/>
            <a:chOff x="0" y="0"/>
            <a:chExt cx="999744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99744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🔴 Live IoT Integration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35" y="4373118"/>
            <a:ext cx="7498080" cy="365760"/>
            <a:chOff x="0" y="0"/>
            <a:chExt cx="999744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MQTT data streaming into dashboard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35" y="4866894"/>
            <a:ext cx="7498080" cy="402336"/>
            <a:chOff x="0" y="0"/>
            <a:chExt cx="999744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99744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☁️  Cloud Deployment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35" y="5250942"/>
            <a:ext cx="7498080" cy="365760"/>
            <a:chOff x="0" y="0"/>
            <a:chExt cx="999744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on AWS/GCP — accessible from anywhere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35" y="5744718"/>
            <a:ext cx="7498080" cy="402336"/>
            <a:chOff x="0" y="0"/>
            <a:chExt cx="9997440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99744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🤖  ML Predictions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5835" y="6128766"/>
            <a:ext cx="7498080" cy="365760"/>
            <a:chOff x="0" y="0"/>
            <a:chExt cx="9997440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 node failure using historical patterns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35" y="6622542"/>
            <a:ext cx="7498080" cy="402336"/>
            <a:chOff x="0" y="0"/>
            <a:chExt cx="999744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99744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📱  Mobile Dashboard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35" y="7006590"/>
            <a:ext cx="7498080" cy="365760"/>
            <a:chOff x="0" y="0"/>
            <a:chExt cx="9997440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Responsive UI for field engineer use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5835" y="7500366"/>
            <a:ext cx="7498080" cy="402336"/>
            <a:chOff x="0" y="0"/>
            <a:chExt cx="999744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999744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🔔  Real-time Alerts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35" y="7884414"/>
            <a:ext cx="7498080" cy="365760"/>
            <a:chOff x="0" y="0"/>
            <a:chExt cx="999744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Email/SMS when critical thresholds exceeded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05618" y="2970533"/>
            <a:ext cx="8255003" cy="5694683"/>
            <a:chOff x="0" y="0"/>
            <a:chExt cx="11006671" cy="75929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972800" cy="7559040"/>
            </a:xfrm>
            <a:custGeom>
              <a:avLst/>
              <a:gdLst/>
              <a:ahLst/>
              <a:cxnLst/>
              <a:rect r="r" b="b" t="t" l="l"/>
              <a:pathLst>
                <a:path h="7559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7592822"/>
            </a:xfrm>
            <a:custGeom>
              <a:avLst/>
              <a:gdLst/>
              <a:ahLst/>
              <a:cxnLst/>
              <a:rect r="r" b="b" t="t" l="l"/>
              <a:pathLst>
                <a:path h="75928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575931"/>
                  </a:lnTo>
                  <a:cubicBezTo>
                    <a:pt x="11006582" y="7585329"/>
                    <a:pt x="10998962" y="7592822"/>
                    <a:pt x="10989691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10989691" y="7559040"/>
                  </a:lnTo>
                  <a:lnTo>
                    <a:pt x="10989691" y="7575931"/>
                  </a:lnTo>
                  <a:lnTo>
                    <a:pt x="10972800" y="75759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84075" y="3129534"/>
            <a:ext cx="7498080" cy="640080"/>
            <a:chOff x="0" y="0"/>
            <a:chExt cx="999744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Achieved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84075" y="4043934"/>
            <a:ext cx="7589520" cy="548640"/>
            <a:chOff x="0" y="0"/>
            <a:chExt cx="101193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11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Full pipeline from raw CSV to PDF report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84075" y="4775454"/>
            <a:ext cx="7589520" cy="548640"/>
            <a:chOff x="0" y="0"/>
            <a:chExt cx="101193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11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Interactive Streamlit dashboard with filters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84075" y="5506974"/>
            <a:ext cx="7589520" cy="548640"/>
            <a:chOff x="0" y="0"/>
            <a:chExt cx="1011936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11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SQLite database with ORM layer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84075" y="6238494"/>
            <a:ext cx="7589520" cy="548640"/>
            <a:chOff x="0" y="0"/>
            <a:chExt cx="1011936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11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Statistical analysis (mean, std, variance)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84075" y="6970014"/>
            <a:ext cx="7589520" cy="548640"/>
            <a:chOff x="0" y="0"/>
            <a:chExt cx="101193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11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REST API for external data access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784075" y="7701534"/>
            <a:ext cx="7589520" cy="548640"/>
            <a:chOff x="0" y="0"/>
            <a:chExt cx="101193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11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Automated alert detection &amp; health scoring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-12697" y="9497063"/>
            <a:ext cx="18313403" cy="793499"/>
            <a:chOff x="0" y="0"/>
            <a:chExt cx="24417871" cy="10579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438399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4177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41019"/>
                  </a:lnTo>
                  <a:cubicBezTo>
                    <a:pt x="24417782" y="1050417"/>
                    <a:pt x="24410163" y="1057910"/>
                    <a:pt x="24400890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4400890" y="1024128"/>
                  </a:lnTo>
                  <a:lnTo>
                    <a:pt x="24400890" y="1041019"/>
                  </a:lnTo>
                  <a:lnTo>
                    <a:pt x="24384000" y="104101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35662" y="9379591"/>
            <a:ext cx="16824960" cy="548640"/>
            <a:chOff x="0" y="0"/>
            <a:chExt cx="2243328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224332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Thank You  •  Janula Swetha  •  Jinukala Vaishnavi  •  Pavani Reddy  •  NJ Madhav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DAHI5kSQe1w</dc:identifier>
  <dcterms:modified xsi:type="dcterms:W3CDTF">2011-08-01T06:04:30Z</dcterms:modified>
  <cp:revision>1</cp:revision>
  <dc:title>WSN_Dashboard_Final.pptx</dc:title>
</cp:coreProperties>
</file>